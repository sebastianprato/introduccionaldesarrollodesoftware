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Roboto Serif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Serif-bold.fntdata"/><Relationship Id="rId14" Type="http://schemas.openxmlformats.org/officeDocument/2006/relationships/slide" Target="slides/slide9.xml"/><Relationship Id="rId36" Type="http://schemas.openxmlformats.org/officeDocument/2006/relationships/font" Target="fonts/RobotoSerif-regular.fntdata"/><Relationship Id="rId17" Type="http://schemas.openxmlformats.org/officeDocument/2006/relationships/slide" Target="slides/slide12.xml"/><Relationship Id="rId39" Type="http://schemas.openxmlformats.org/officeDocument/2006/relationships/font" Target="fonts/RobotoSerif-boldItalic.fntdata"/><Relationship Id="rId16" Type="http://schemas.openxmlformats.org/officeDocument/2006/relationships/slide" Target="slides/slide11.xml"/><Relationship Id="rId38" Type="http://schemas.openxmlformats.org/officeDocument/2006/relationships/font" Target="fonts/RobotoSerif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f1f0e37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f1f0e37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f3a10b62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f3a10b62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f3a10b621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f3a10b621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f3a10b621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f3a10b621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f3b5afad4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f3b5afad4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f3ee390cb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f3ee390cb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f3ee390cb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f3ee390cb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f3ee390cb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f3ee390cb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f3ee390cb1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f3ee390cb1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f3ee390cb1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f3ee390cb1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f3ee390cb1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f3ee390cb1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f3ee390cb1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f3ee390cb1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f49ce721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f49ce721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f49ce7212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f49ce7212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f3ee390cb1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f3ee390cb1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f3ee390cb1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f3ee390cb1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f3ee390cb1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f3ee390cb1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f3ee390cb1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f3ee390cb1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f3ee390cb1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f3ee390cb1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f3ee390cb1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f3ee390cb1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f3ee390cb1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f3ee390cb1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f3ee390cb1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f3ee390cb1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f3ee390cb1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f3ee390cb1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f1f0e37db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f1f0e37db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f1f0e37db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f1f0e37db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f3ee390cb1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1f3ee390cb1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Condicionales e iterativas en Bash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Pipeline, redirección y listas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Expresiones Regulares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Script de búsqueda y reemplazo</a:t>
            </a:r>
            <a:endParaRPr/>
          </a:p>
        </p:txBody>
      </p:sp>
      <p:sp>
        <p:nvSpPr>
          <p:cNvPr id="108" name="Google Shape;108;p16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Estructuras Condicionales e Iterativas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Estructuras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El Shell como intérprete puede resolver estructuras condicionales e iterativas, facilitando y ampliando la forma de interactuar con el usuario y permitiendo un gran abanico de posibilidad a la hora de crear Scripts.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Condicionales</a:t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estructura de un condicional 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if [[ CONDICIÓN ]] ; then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   echo "La condición se cumple, es True"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else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   echo "La condición no se cumples, es False"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/>
              <a:t>fi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Condicionales - Cómo comparar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311700" y="1017800"/>
            <a:ext cx="3814200" cy="35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s" sz="1090" u="sng"/>
              <a:t>Números</a:t>
            </a:r>
            <a:r>
              <a:rPr lang="es" sz="1090"/>
              <a:t>: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090"/>
              <a:t>-eq: Si son Iguales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090"/>
              <a:t>-ne: Si no son iguales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090"/>
              <a:t>-gt: Si el primero es mayor al </a:t>
            </a:r>
            <a:r>
              <a:rPr lang="es" sz="1090"/>
              <a:t>segundo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090"/>
              <a:t>-lt: Si el primero es menor al segundo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090"/>
              <a:t>-ge: Si el primero es mayor o igual al segundo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lang="es" sz="1090"/>
              <a:t>-le: Si el primero es menor o igual al segundo</a:t>
            </a:r>
            <a:endParaRPr sz="1090"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4432375" y="1017800"/>
            <a:ext cx="3814200" cy="35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s" sz="1090" u="sng"/>
              <a:t>Cadenas: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090"/>
              <a:t>string1 == string2</a:t>
            </a:r>
            <a:r>
              <a:rPr lang="es" sz="1090"/>
              <a:t>: Si son Iguales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090"/>
              <a:t>string1 != string2</a:t>
            </a:r>
            <a:r>
              <a:rPr lang="es" sz="1090"/>
              <a:t>: Si no son iguales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090"/>
              <a:t>string1 =~ regex</a:t>
            </a:r>
            <a:r>
              <a:rPr lang="es" sz="1090"/>
              <a:t>: Devuelve True si la regex coincide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090"/>
              <a:t>string1 &gt; string2</a:t>
            </a:r>
            <a:r>
              <a:rPr lang="es" sz="1090"/>
              <a:t>: Si la primer cadena es mayor que la segunda por orden léxico. Lo contrario para &lt;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090"/>
              <a:t>-z string</a:t>
            </a:r>
            <a:r>
              <a:rPr lang="es" sz="1090"/>
              <a:t>: Devuelve True, si la longitud es cero</a:t>
            </a:r>
            <a:endParaRPr sz="1090"/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lang="es" sz="1090"/>
              <a:t>-n string</a:t>
            </a:r>
            <a:r>
              <a:rPr lang="es" sz="1090"/>
              <a:t>: </a:t>
            </a:r>
            <a:r>
              <a:rPr lang="es" sz="1090"/>
              <a:t>Devuelve</a:t>
            </a:r>
            <a:r>
              <a:rPr lang="es" sz="1090"/>
              <a:t> True, si la longitud NO es cero</a:t>
            </a:r>
            <a:endParaRPr sz="109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Case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311700" y="1017800"/>
            <a:ext cx="59052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" sz="1690"/>
              <a:t>La estructura de un condicional tipo Case es:</a:t>
            </a:r>
            <a:endParaRPr sz="169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i="1" lang="es" sz="1690"/>
              <a:t>case expression in</a:t>
            </a:r>
            <a:endParaRPr b="1" i="1" sz="169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i="1" lang="es" sz="1690"/>
              <a:t>    pattern1 )</a:t>
            </a:r>
            <a:endParaRPr b="1" i="1" sz="169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i="1" lang="es" sz="1690"/>
              <a:t>        statements ;;</a:t>
            </a:r>
            <a:endParaRPr b="1" i="1" sz="169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i="1" lang="es" sz="1690"/>
              <a:t>    pattern2 )</a:t>
            </a:r>
            <a:endParaRPr b="1" i="1" sz="169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i="1" lang="es" sz="1690"/>
              <a:t>        statements ;;</a:t>
            </a:r>
            <a:endParaRPr b="1" i="1" sz="169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i="1" lang="es" sz="1690"/>
              <a:t>    ...</a:t>
            </a:r>
            <a:endParaRPr b="1" i="1" sz="169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b="1" i="1" lang="es" sz="1690"/>
              <a:t>esac</a:t>
            </a:r>
            <a:endParaRPr b="1" i="1" sz="169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Case - Ejemplo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311700" y="1017800"/>
            <a:ext cx="8591400" cy="30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script que reciba como parámetro el nombre de un archivo y muestre un menú con las siguientes opciones.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1- Ver el contenido del archivo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2- Editar el archivo con el editor nano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3- Ver los permisos del archivo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* - Salir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Estructuras cíclicas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11700" y="1017800"/>
            <a:ext cx="8591400" cy="30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Una estructura cíclica nos permitirá repetir instrucciones dentro de un script. En Bash existen 3 estructuras for, while y until.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Cada una de ellas tiene un uso específico.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 For</a:t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311700" y="1017800"/>
            <a:ext cx="8591400" cy="30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for nos permitirá iterar sobre una lista de valores.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donde: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i es la variable que tomará valor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[in LIST] es la lista de valores. Ejemplo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4"/>
          <p:cNvSpPr txBox="1"/>
          <p:nvPr/>
        </p:nvSpPr>
        <p:spPr>
          <a:xfrm>
            <a:off x="4995950" y="1505900"/>
            <a:ext cx="4014000" cy="2594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for i [in LIST ]; </a:t>
            </a:r>
            <a:endParaRPr b="1" i="1"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do </a:t>
            </a:r>
            <a:endParaRPr b="1" i="1"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COMMANDS; </a:t>
            </a:r>
            <a:endParaRPr b="1" i="1"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done </a:t>
            </a:r>
            <a:endParaRPr b="1" i="1"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387900" y="3138975"/>
            <a:ext cx="4624500" cy="1236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in {1. .5}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(( c=1; c&lt;=5; c++ ))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in file1 file2 file3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in $(Linux-Or-Unix-Command-Here)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</a:t>
            </a:r>
            <a:r>
              <a:rPr lang="es"/>
              <a:t>For</a:t>
            </a:r>
            <a:endParaRPr/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311700" y="1017800"/>
            <a:ext cx="8591400" cy="30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script que permita recorrer todos los </a:t>
            </a:r>
            <a:r>
              <a:rPr lang="es"/>
              <a:t>archivos</a:t>
            </a:r>
            <a:r>
              <a:rPr lang="es"/>
              <a:t> de un directorio y muestre el contenido de los que sean de extención .txt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 While</a:t>
            </a:r>
            <a:endParaRPr/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311700" y="1017800"/>
            <a:ext cx="3066300" cy="3082800"/>
          </a:xfrm>
          <a:prstGeom prst="rect">
            <a:avLst/>
          </a:prstGeom>
          <a:solidFill>
            <a:srgbClr val="F3F3F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/>
              <a:t>while [ condition ]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/>
              <a:t>do</a:t>
            </a:r>
            <a:endParaRPr b="1" i="1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/>
              <a:t>comandos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s"/>
              <a:t>done</a:t>
            </a:r>
            <a:endParaRPr b="1" i="1"/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4493425" y="1017800"/>
            <a:ext cx="3219300" cy="3082800"/>
          </a:xfrm>
          <a:prstGeom prst="rect">
            <a:avLst/>
          </a:prstGeom>
          <a:solidFill>
            <a:srgbClr val="F3F3F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/>
              <a:t>until  [condition]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/>
              <a:t>do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/>
              <a:t>     comandos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s"/>
              <a:t>done</a:t>
            </a:r>
            <a:endParaRPr b="1" i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While y Until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311700" y="1017800"/>
            <a:ext cx="8591400" cy="30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1-  </a:t>
            </a:r>
            <a:r>
              <a:rPr lang="es"/>
              <a:t>Crear un script utilizando while que permita imprimir el mensaje </a:t>
            </a:r>
            <a:r>
              <a:rPr b="1" lang="es"/>
              <a:t>“</a:t>
            </a:r>
            <a:r>
              <a:rPr b="1" lang="es"/>
              <a:t>Bienvenido por vez número: “ </a:t>
            </a:r>
            <a:r>
              <a:rPr lang="es"/>
              <a:t> 5 veces.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2- Crear un script utilizando until que genere un número random entre 1 y 20, si los valores están entre 5 y 10 el bucle deberá terminar.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Pipelines |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Pipe o flujo de datos, nos permite utilizar la salida de un comando como entrada de otro.</a:t>
            </a:r>
            <a:br>
              <a:rPr lang="es"/>
            </a:br>
            <a:r>
              <a:rPr lang="es"/>
              <a:t>Un ejemplo sería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comando 1 | comando 2 | comando 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Lo que devuelva el comando 1 será utilizado por el comando 2 y la salida de este por el comando 3… así las veces que se desee.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</a:t>
            </a:r>
            <a:r>
              <a:rPr lang="es"/>
              <a:t>Pipelines</a:t>
            </a:r>
            <a:endParaRPr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1- Contar la cantidad de líneas de una archivo de texto.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cat ejemplo.txt | wc -l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2- Localizar una palabra en un archivo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cat ejemplo.txt | grep “Hola”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3- Ordenar las líneas de un archivo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cat ejemplo.txt | sort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Búsqueda</a:t>
            </a:r>
            <a:r>
              <a:rPr lang="es"/>
              <a:t> con grep</a:t>
            </a:r>
            <a:endParaRPr/>
          </a:p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 grep se puede</a:t>
            </a:r>
            <a:r>
              <a:rPr lang="es"/>
              <a:t> buscar una palabra o patrón y se imprimirá la línea o líneas que la contengan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>
                <a:solidFill>
                  <a:srgbClr val="003E6A"/>
                </a:solidFill>
              </a:rPr>
              <a:t>grep</a:t>
            </a:r>
            <a:r>
              <a:rPr b="1" lang="es"/>
              <a:t> </a:t>
            </a:r>
            <a:r>
              <a:rPr b="1" lang="es">
                <a:solidFill>
                  <a:srgbClr val="9900FF"/>
                </a:solidFill>
              </a:rPr>
              <a:t>opcion/es</a:t>
            </a:r>
            <a:r>
              <a:rPr b="1" lang="es"/>
              <a:t> </a:t>
            </a:r>
            <a:r>
              <a:rPr b="1" lang="es">
                <a:solidFill>
                  <a:srgbClr val="FF0000"/>
                </a:solidFill>
              </a:rPr>
              <a:t>'cadena_de_texto'</a:t>
            </a:r>
            <a:r>
              <a:rPr b="1" lang="es"/>
              <a:t> </a:t>
            </a:r>
            <a:r>
              <a:rPr b="1" lang="es">
                <a:solidFill>
                  <a:srgbClr val="BF9000"/>
                </a:solidFill>
              </a:rPr>
              <a:t>fichero_donde_buscar</a:t>
            </a:r>
            <a:endParaRPr b="1">
              <a:solidFill>
                <a:srgbClr val="BF9000"/>
              </a:solidFill>
            </a:endParaRPr>
          </a:p>
        </p:txBody>
      </p:sp>
      <p:cxnSp>
        <p:nvCxnSpPr>
          <p:cNvPr id="196" name="Google Shape;196;p30"/>
          <p:cNvCxnSpPr/>
          <p:nvPr/>
        </p:nvCxnSpPr>
        <p:spPr>
          <a:xfrm flipH="1">
            <a:off x="2950725" y="2650575"/>
            <a:ext cx="870000" cy="50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30"/>
          <p:cNvCxnSpPr/>
          <p:nvPr/>
        </p:nvCxnSpPr>
        <p:spPr>
          <a:xfrm>
            <a:off x="6125400" y="2650575"/>
            <a:ext cx="671700" cy="50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" name="Google Shape;198;p30"/>
          <p:cNvSpPr txBox="1"/>
          <p:nvPr/>
        </p:nvSpPr>
        <p:spPr>
          <a:xfrm>
            <a:off x="859800" y="3154275"/>
            <a:ext cx="3113700" cy="686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0000"/>
                </a:solidFill>
                <a:latin typeface="Roboto Serif"/>
                <a:ea typeface="Roboto Serif"/>
                <a:cs typeface="Roboto Serif"/>
                <a:sym typeface="Roboto Serif"/>
              </a:rPr>
              <a:t>Palabra o patrón a buscar</a:t>
            </a:r>
            <a:endParaRPr sz="1800">
              <a:solidFill>
                <a:srgbClr val="FF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99" name="Google Shape;199;p30"/>
          <p:cNvSpPr txBox="1"/>
          <p:nvPr/>
        </p:nvSpPr>
        <p:spPr>
          <a:xfrm>
            <a:off x="5881200" y="3154275"/>
            <a:ext cx="2625300" cy="747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BF9000"/>
                </a:solidFill>
                <a:latin typeface="Roboto Serif"/>
                <a:ea typeface="Roboto Serif"/>
                <a:cs typeface="Roboto Serif"/>
                <a:sym typeface="Roboto Serif"/>
              </a:rPr>
              <a:t>Archivo en el cual buscar</a:t>
            </a:r>
            <a:endParaRPr sz="1800">
              <a:solidFill>
                <a:srgbClr val="BF9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Ejemplos uso de grep</a:t>
            </a:r>
            <a:endParaRPr/>
          </a:p>
        </p:txBody>
      </p:sp>
      <p:sp>
        <p:nvSpPr>
          <p:cNvPr id="205" name="Google Shape;205;p31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Buscar una palabra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5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rPr>
              <a:t>grep “Hola” ejemplo.txt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Buscar una frase en un un archivo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	</a:t>
            </a:r>
            <a:r>
              <a:rPr lang="es" sz="125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rPr>
              <a:t>grep “Hola mundo” ejemplo.txt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Buscar múltiples palabras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5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rPr>
              <a:t>grep búsqueda1 archivo | grep búsqueda2 archivo</a:t>
            </a:r>
            <a:endParaRPr sz="1250">
              <a:solidFill>
                <a:srgbClr val="21252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Buscar una palabra en un conjunto de archivos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25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rPr>
              <a:t>grep -l palabra_a_buscar ./*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Búsqueda y reemplazo</a:t>
            </a:r>
            <a:endParaRPr/>
          </a:p>
        </p:txBody>
      </p:sp>
      <p:sp>
        <p:nvSpPr>
          <p:cNvPr id="211" name="Google Shape;211;p32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Stream Editor (sed)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sed -i 's/</a:t>
            </a:r>
            <a:r>
              <a:rPr b="1" lang="es">
                <a:solidFill>
                  <a:srgbClr val="FF0000"/>
                </a:solidFill>
              </a:rPr>
              <a:t>old-text</a:t>
            </a:r>
            <a:r>
              <a:rPr lang="es"/>
              <a:t>/</a:t>
            </a:r>
            <a:r>
              <a:rPr b="1" lang="es">
                <a:solidFill>
                  <a:srgbClr val="6AA84F"/>
                </a:solidFill>
              </a:rPr>
              <a:t>new-text</a:t>
            </a:r>
            <a:r>
              <a:rPr lang="es"/>
              <a:t>/g' input.txt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-i: Indica hacer un update en el archivo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s: Indica sustituir las palabras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g: Indica hacerlo en forma global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Expresiones regulares</a:t>
            </a:r>
            <a:endParaRPr/>
          </a:p>
        </p:txBody>
      </p:sp>
      <p:sp>
        <p:nvSpPr>
          <p:cNvPr id="217" name="Google Shape;217;p33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Una expresión regular es una cadena que sirve para expresar de forma compacta, un conjunto de cadenas.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 Son un potente mecanismo para resolver manipulación de textos y cadenas.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Uno de los comandos que aceptan RE es grep.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Por otra parte hay múltiples lenguajes que las interpretan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type="title"/>
          </p:nvPr>
        </p:nvSpPr>
        <p:spPr>
          <a:xfrm>
            <a:off x="311700" y="2421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RE::Patrones básicos</a:t>
            </a:r>
            <a:endParaRPr/>
          </a:p>
        </p:txBody>
      </p:sp>
      <p:pic>
        <p:nvPicPr>
          <p:cNvPr id="223" name="Google Shape;22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925" y="756025"/>
            <a:ext cx="8520600" cy="342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4"/>
          <p:cNvSpPr txBox="1"/>
          <p:nvPr/>
        </p:nvSpPr>
        <p:spPr>
          <a:xfrm>
            <a:off x="1531325" y="4178525"/>
            <a:ext cx="467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highlight>
                  <a:srgbClr val="FFFFFF"/>
                </a:highlight>
              </a:rPr>
              <a:t>BRE</a:t>
            </a:r>
            <a:r>
              <a:rPr lang="es" sz="1200">
                <a:highlight>
                  <a:srgbClr val="FFFFFF"/>
                </a:highlight>
              </a:rPr>
              <a:t> (</a:t>
            </a:r>
            <a:r>
              <a:rPr i="1" lang="es" sz="1200">
                <a:highlight>
                  <a:srgbClr val="FFFFFF"/>
                </a:highlight>
              </a:rPr>
              <a:t>Basic Regular Expression</a:t>
            </a:r>
            <a:r>
              <a:rPr lang="es" sz="1200">
                <a:highlight>
                  <a:srgbClr val="FFFFFF"/>
                </a:highlight>
              </a:rPr>
              <a:t>)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0000"/>
                </a:solidFill>
                <a:highlight>
                  <a:srgbClr val="FFFFFF"/>
                </a:highlight>
              </a:rPr>
              <a:t>ERE</a:t>
            </a:r>
            <a:r>
              <a:rPr lang="es" sz="1200">
                <a:solidFill>
                  <a:srgbClr val="FF0000"/>
                </a:solidFill>
                <a:highlight>
                  <a:srgbClr val="FFFFFF"/>
                </a:highlight>
              </a:rPr>
              <a:t> (</a:t>
            </a:r>
            <a:r>
              <a:rPr i="1" lang="es" sz="1200">
                <a:solidFill>
                  <a:srgbClr val="FF0000"/>
                </a:solidFill>
                <a:highlight>
                  <a:srgbClr val="FFFFFF"/>
                </a:highlight>
              </a:rPr>
              <a:t>Extended Regular Expression</a:t>
            </a:r>
            <a:r>
              <a:rPr lang="es" sz="1200">
                <a:solidFill>
                  <a:srgbClr val="FF0000"/>
                </a:solidFill>
                <a:highlight>
                  <a:srgbClr val="FFFFFF"/>
                </a:highlight>
              </a:rPr>
              <a:t>) </a:t>
            </a:r>
            <a:r>
              <a:rPr b="1" lang="es" sz="1200">
                <a:solidFill>
                  <a:srgbClr val="FF0000"/>
                </a:solidFill>
                <a:highlight>
                  <a:srgbClr val="FFFFFF"/>
                </a:highlight>
              </a:rPr>
              <a:t>La más usada</a:t>
            </a:r>
            <a:endParaRPr b="1" sz="1200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highlight>
                  <a:srgbClr val="FFFFFF"/>
                </a:highlight>
              </a:rPr>
              <a:t>PCRE</a:t>
            </a:r>
            <a:r>
              <a:rPr lang="es" sz="1200">
                <a:highlight>
                  <a:srgbClr val="FFFFFF"/>
                </a:highlight>
              </a:rPr>
              <a:t> (</a:t>
            </a:r>
            <a:r>
              <a:rPr i="1" lang="es" sz="1200">
                <a:highlight>
                  <a:srgbClr val="FFFFFF"/>
                </a:highlight>
              </a:rPr>
              <a:t>Perl Compatible Regular Expression</a:t>
            </a:r>
            <a:r>
              <a:rPr lang="es" sz="1200">
                <a:highlight>
                  <a:srgbClr val="FFFFFF"/>
                </a:highlight>
              </a:rPr>
              <a:t>)</a:t>
            </a:r>
            <a:endParaRPr sz="12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RE::Patrones avanzados</a:t>
            </a:r>
            <a:endParaRPr/>
          </a:p>
        </p:txBody>
      </p:sp>
      <p:pic>
        <p:nvPicPr>
          <p:cNvPr id="230" name="Google Shape;23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375" y="973025"/>
            <a:ext cx="7289556" cy="342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RE::Ejemplos</a:t>
            </a:r>
            <a:endParaRPr/>
          </a:p>
        </p:txBody>
      </p:sp>
      <p:sp>
        <p:nvSpPr>
          <p:cNvPr id="236" name="Google Shape;236;p36"/>
          <p:cNvSpPr txBox="1"/>
          <p:nvPr/>
        </p:nvSpPr>
        <p:spPr>
          <a:xfrm>
            <a:off x="417175" y="938700"/>
            <a:ext cx="8520600" cy="3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1- ¿Contiene el texto una o ninguna letra ‘a’?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grep -E 'a?' ejemplo.txt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2- ¿El texto contiene al menos dos letras ‘z’ seguidas?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grep -E 'z{2,}' ejemplo.txt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3- ¿Comienza el texto por una letra mayúscula?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grep -E '^[A-Z]' ejemplo.txt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4- La frase no contiene ningún 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dígito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: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grep -E '^\D+$' ejemplo.txt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37" name="Google Shape;237;p36"/>
          <p:cNvSpPr txBox="1"/>
          <p:nvPr/>
        </p:nvSpPr>
        <p:spPr>
          <a:xfrm>
            <a:off x="6052975" y="410000"/>
            <a:ext cx="2884800" cy="1236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El uso de la opción -E nos permite colocar RE en grep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Operadores de redirección.</a:t>
            </a:r>
            <a:endParaRPr/>
          </a:p>
        </p:txBody>
      </p:sp>
      <p:sp>
        <p:nvSpPr>
          <p:cNvPr id="243" name="Google Shape;243;p3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salida </a:t>
            </a:r>
            <a:r>
              <a:rPr lang="es"/>
              <a:t>estándar</a:t>
            </a:r>
            <a:r>
              <a:rPr lang="es"/>
              <a:t> es la pantalla </a:t>
            </a:r>
            <a:r>
              <a:rPr b="1" lang="es"/>
              <a:t>stdout</a:t>
            </a:r>
            <a:r>
              <a:rPr lang="es"/>
              <a:t>, pero se puede redirigir la misma a otro lugar, por ejemplo un archivo. Para esto se utiliza el operador </a:t>
            </a:r>
            <a:r>
              <a:rPr b="1" lang="es"/>
              <a:t>“&gt;”</a:t>
            </a:r>
            <a:br>
              <a:rPr lang="es"/>
            </a:br>
            <a:r>
              <a:rPr lang="es"/>
              <a:t>Realizar el siguiente ejemplo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bruno@bruno:~$ </a:t>
            </a:r>
            <a:r>
              <a:rPr lang="es"/>
              <a:t>date</a:t>
            </a:r>
            <a:br>
              <a:rPr lang="es"/>
            </a:br>
            <a:r>
              <a:rPr lang="es"/>
              <a:t>bruno@bruno:~$ date &gt; fecha.txt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bruno@bruno:~$ </a:t>
            </a:r>
            <a:r>
              <a:rPr lang="es"/>
              <a:t>cat fecha.txt</a:t>
            </a:r>
            <a:endParaRPr/>
          </a:p>
        </p:txBody>
      </p:sp>
      <p:sp>
        <p:nvSpPr>
          <p:cNvPr id="244" name="Google Shape;244;p37"/>
          <p:cNvSpPr txBox="1"/>
          <p:nvPr/>
        </p:nvSpPr>
        <p:spPr>
          <a:xfrm>
            <a:off x="6110125" y="2253775"/>
            <a:ext cx="2533500" cy="13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 redirige la fecha para ser guardada en el archivo fecha.txt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245" name="Google Shape;245;p37"/>
          <p:cNvCxnSpPr>
            <a:endCxn id="244" idx="1"/>
          </p:cNvCxnSpPr>
          <p:nvPr/>
        </p:nvCxnSpPr>
        <p:spPr>
          <a:xfrm flipH="1" rot="10800000">
            <a:off x="4339525" y="2940625"/>
            <a:ext cx="1770600" cy="44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Operadores de redirección.</a:t>
            </a:r>
            <a:endParaRPr/>
          </a:p>
        </p:txBody>
      </p:sp>
      <p:sp>
        <p:nvSpPr>
          <p:cNvPr id="251" name="Google Shape;251;p3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operador &gt;, lo que hace es sobreescribir el archivo, mientras que el operador &gt;&gt; sirve como agregar al final del archivo, como si fuese un append.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r>
              <a:rPr lang="es"/>
              <a:t> </a:t>
            </a:r>
            <a:br>
              <a:rPr lang="es"/>
            </a:br>
            <a:r>
              <a:rPr lang="es"/>
              <a:t>[damon@localhost ~]$ date &gt; ejemplo.txt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[damon@localhost ~]$ hostname &gt;&gt; ejemplo.txt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Operadores de redirección.</a:t>
            </a:r>
            <a:endParaRPr/>
          </a:p>
        </p:txBody>
      </p:sp>
      <p:sp>
        <p:nvSpPr>
          <p:cNvPr id="257" name="Google Shape;257;p39"/>
          <p:cNvSpPr txBox="1"/>
          <p:nvPr>
            <p:ph idx="1" type="body"/>
          </p:nvPr>
        </p:nvSpPr>
        <p:spPr>
          <a:xfrm>
            <a:off x="311700" y="1017800"/>
            <a:ext cx="8520600" cy="3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Así como existen los operadores de salida, también existe el de entrada </a:t>
            </a:r>
            <a:r>
              <a:rPr b="1" lang="es"/>
              <a:t>stdin</a:t>
            </a:r>
            <a:r>
              <a:rPr lang="es"/>
              <a:t>, para esto se utiliza &lt;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Ejemplo:</a:t>
            </a:r>
            <a:br>
              <a:rPr lang="es"/>
            </a:br>
            <a:r>
              <a:rPr lang="es"/>
              <a:t>[damon@localhost ~]$ sort &lt; milista.txt</a:t>
            </a:r>
            <a:br>
              <a:rPr lang="es"/>
            </a:br>
            <a:r>
              <a:rPr lang="es"/>
              <a:t>Ejemplo 2: </a:t>
            </a:r>
            <a:r>
              <a:rPr b="1" lang="es"/>
              <a:t>(qué hace?)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[damon@localhost ~]$ sort &lt; mylist.txt &gt; alphabetical-file.txt</a:t>
            </a:r>
            <a:endParaRPr/>
          </a:p>
        </p:txBody>
      </p:sp>
      <p:sp>
        <p:nvSpPr>
          <p:cNvPr id="258" name="Google Shape;258;p39"/>
          <p:cNvSpPr txBox="1"/>
          <p:nvPr/>
        </p:nvSpPr>
        <p:spPr>
          <a:xfrm>
            <a:off x="5652250" y="2113875"/>
            <a:ext cx="3266100" cy="1587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Ordena el contenido de </a:t>
            </a:r>
            <a:r>
              <a:rPr b="1"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milista.txt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, y lo muestra por pantalla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Operadores de redirección.</a:t>
            </a:r>
            <a:endParaRPr/>
          </a:p>
        </p:txBody>
      </p:sp>
      <p:sp>
        <p:nvSpPr>
          <p:cNvPr id="264" name="Google Shape;264;p40"/>
          <p:cNvSpPr txBox="1"/>
          <p:nvPr>
            <p:ph idx="1" type="body"/>
          </p:nvPr>
        </p:nvSpPr>
        <p:spPr>
          <a:xfrm>
            <a:off x="311700" y="1017800"/>
            <a:ext cx="8520600" cy="3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Por último existe un operador para </a:t>
            </a:r>
            <a:r>
              <a:rPr b="1" lang="es"/>
              <a:t>stderr</a:t>
            </a:r>
            <a:r>
              <a:rPr lang="es"/>
              <a:t>, que es 2&gt; y 2&gt;&gt;(funciona como append)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Entonces se podría tener un archivo de log con errores como los ejemplos: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[damon@localhost ~]$ ccat 2&gt; error.log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[damon@localhost ~]$ png  2&gt;&gt; error.log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1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Ejercitación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1</a:t>
            </a:r>
            <a:endParaRPr/>
          </a:p>
        </p:txBody>
      </p:sp>
      <p:sp>
        <p:nvSpPr>
          <p:cNvPr id="275" name="Google Shape;275;p42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Solicitar al usuario el ingreso de 10 valores enteros y calcular el promedio de los mismos.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2</a:t>
            </a:r>
            <a:endParaRPr/>
          </a:p>
        </p:txBody>
      </p:sp>
      <p:sp>
        <p:nvSpPr>
          <p:cNvPr id="281" name="Google Shape;281;p43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script llamado menu.sh que reciba un parámetro con el nombre de un archivo. El script deberá tener el siguiente  menú que permita:</a:t>
            </a:r>
            <a:br>
              <a:rPr lang="es"/>
            </a:br>
            <a:r>
              <a:rPr lang="es"/>
              <a:t>1- Ingresar una palabra y reemplazarla por **** en el archivo pasado por parámetro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2-abrir el archivo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3- realizar una copia del archivo llamada menu_copia.sh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4- Ingresar un email y validarlo mediante 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5-  Salir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