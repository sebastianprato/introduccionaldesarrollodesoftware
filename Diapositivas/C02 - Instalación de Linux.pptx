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oboto Serif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rif-bold.fntdata"/><Relationship Id="rId30" Type="http://schemas.openxmlformats.org/officeDocument/2006/relationships/font" Target="fonts/RobotoSerif-regular.fntdata"/><Relationship Id="rId11" Type="http://schemas.openxmlformats.org/officeDocument/2006/relationships/slide" Target="slides/slide6.xml"/><Relationship Id="rId33" Type="http://schemas.openxmlformats.org/officeDocument/2006/relationships/font" Target="fonts/RobotoSerif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Serif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2d5e39c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2d5e39c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f2c1b4b2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f2c1b4b2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2c1b4b21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f2c1b4b2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f2c1b4b21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f2c1b4b21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f2fc95511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f2fc95511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f2fc95511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f2fc95511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f3a13b14a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f3a13b14a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f3a13b14a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f3a13b14a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f3a13b14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f3a13b14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f3a13b14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f3a13b14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f2fc95511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f2fc95511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f3a13b14a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f3a13b14a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f2fc95511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f2fc95511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f2fc95511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f2fc95511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2fc95511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f2fc95511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2fc95511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2fc95511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f2fc95511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f2fc95511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2e47babd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c2e47babd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Tlx7qZCPIsA" TargetMode="External"/><Relationship Id="rId4" Type="http://schemas.openxmlformats.org/officeDocument/2006/relationships/hyperlink" Target="https://www.vmware.com/" TargetMode="External"/><Relationship Id="rId5" Type="http://schemas.openxmlformats.org/officeDocument/2006/relationships/hyperlink" Target="https://www.virtualbox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introds-web.vercel.app/gui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Instalación Linux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Bash + ejercicios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Mi primer script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de Linux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de Linux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Alternativas de instalación y consulta para los que no tienen el SO instalado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u="sng">
                <a:solidFill>
                  <a:schemeClr val="hlink"/>
                </a:solidFill>
                <a:hlinkClick r:id="rId3"/>
              </a:rPr>
              <a:t>Windows Subsystem for Linux (WSL)</a:t>
            </a:r>
            <a:r>
              <a:rPr lang="es"/>
              <a:t> </a:t>
            </a:r>
            <a:r>
              <a:rPr lang="es" sz="1400"/>
              <a:t>(No recomendable para más adelante)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Virtual Machine: </a:t>
            </a:r>
            <a:r>
              <a:rPr lang="es" u="sng">
                <a:solidFill>
                  <a:schemeClr val="hlink"/>
                </a:solidFill>
                <a:hlinkClick r:id="rId4"/>
              </a:rPr>
              <a:t>VMWare</a:t>
            </a:r>
            <a:r>
              <a:rPr lang="es"/>
              <a:t> o </a:t>
            </a:r>
            <a:r>
              <a:rPr lang="es" u="sng">
                <a:solidFill>
                  <a:schemeClr val="hlink"/>
                </a:solidFill>
                <a:hlinkClick r:id="rId5"/>
              </a:rPr>
              <a:t>VirtualBox</a:t>
            </a:r>
            <a:r>
              <a:rPr lang="es"/>
              <a:t> (solución recomendada)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Dual Boot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 (cont.)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¿Cómo saber qué hace un comando?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e.g.: comando &lt;date&gt;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 la shell ejecutamos: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date --help 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man date</a:t>
            </a:r>
            <a:r>
              <a:rPr lang="es"/>
              <a:t> 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info date 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7700" y="1208322"/>
            <a:ext cx="5254610" cy="33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7468975" y="2775850"/>
            <a:ext cx="157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¡recurrimos a la Biblia!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4">
            <a:alphaModFix/>
          </a:blip>
          <a:srcRect b="0" l="0" r="0" t="4003"/>
          <a:stretch/>
        </p:blipFill>
        <p:spPr>
          <a:xfrm>
            <a:off x="6573525" y="1208325"/>
            <a:ext cx="2258775" cy="15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nos permiten hacer?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Recorrer el sistema de archivos (&lt;cd&gt;)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Ver el contenido, seleccionar y procesar archivos de texto (&lt;cat&gt;, </a:t>
            </a:r>
            <a:r>
              <a:rPr lang="es"/>
              <a:t>&lt;more&gt;, &lt;less&gt;, &lt;ls&gt;, &lt;mkdir&gt;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Buscar dentro de uno o más archivos algún dato (</a:t>
            </a:r>
            <a:r>
              <a:rPr lang="es"/>
              <a:t>&lt;grep&gt;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y borrar archivos (</a:t>
            </a:r>
            <a:r>
              <a:rPr lang="es"/>
              <a:t>&lt;touch&gt; y &lt;rm&gt;</a:t>
            </a:r>
            <a:r>
              <a:rPr lang="es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y mucho más…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Procesamiento de texto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awk - Pattern scanning and processing language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cat - Display file(s)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cut - Extract selected fields of each line of a file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diff - Compare two files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grep - Search text for a pattern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head - Display the first part of files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less - Display files on a page-by-page basis</a:t>
            </a:r>
            <a:endParaRPr/>
          </a:p>
        </p:txBody>
      </p:sp>
      <p:sp>
        <p:nvSpPr>
          <p:cNvPr id="146" name="Google Shape;146;p22"/>
          <p:cNvSpPr txBox="1"/>
          <p:nvPr>
            <p:ph idx="2" type="body"/>
          </p:nvPr>
        </p:nvSpPr>
        <p:spPr>
          <a:xfrm>
            <a:off x="4681800" y="1017800"/>
            <a:ext cx="41505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sed - Stream editor (esp. search and replace)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sort - Sort text files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split - Split files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tail - Display the last part of a file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tr - Translate/delete characters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uniq - Filter out repeated lines in a file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wc - Line, word and character count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touch - Create a new empty file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Editores dentro de Linux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017800"/>
            <a:ext cx="8606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Vim  → </a:t>
            </a:r>
            <a:r>
              <a:rPr b="1" lang="es"/>
              <a:t>sudo apt install vim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Nano  → </a:t>
            </a:r>
            <a:r>
              <a:rPr b="1" lang="es"/>
              <a:t>sudo apt install nano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ne – The Nice Editor  → </a:t>
            </a:r>
            <a:r>
              <a:rPr b="1" lang="es"/>
              <a:t>sudo apt install ne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GNU Emacs  </a:t>
            </a:r>
            <a:r>
              <a:rPr b="1" lang="es"/>
              <a:t>→ sudo apt install emacs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entre otros…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de ambiente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Una variable es una herramienta que nos permite </a:t>
            </a:r>
            <a:r>
              <a:rPr b="1" lang="es"/>
              <a:t>almacenar información</a:t>
            </a:r>
            <a:r>
              <a:rPr lang="es"/>
              <a:t> de algún tipo, en particular puede ser: String, Integer, Array o Constantes.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Además, las variables pueden ser…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V</a:t>
            </a:r>
            <a:r>
              <a:rPr lang="es" u="sng"/>
              <a:t>ariables de ambiente</a:t>
            </a:r>
            <a:r>
              <a:rPr lang="es"/>
              <a:t> (globales y presentes en todos los Shells)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u="sng"/>
              <a:t>V</a:t>
            </a:r>
            <a:r>
              <a:rPr lang="es" u="sng"/>
              <a:t>ariables locales</a:t>
            </a:r>
            <a:r>
              <a:rPr lang="es"/>
              <a:t> (definidas por el usuario)</a:t>
            </a:r>
            <a:endParaRPr/>
          </a:p>
        </p:txBody>
      </p:sp>
      <p:sp>
        <p:nvSpPr>
          <p:cNvPr id="163" name="Google Shape;163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una Variable?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de Ambiente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conocer las variables de ambiente se puede usar el comando </a:t>
            </a:r>
            <a:r>
              <a:rPr b="1" lang="es"/>
              <a:t>env</a:t>
            </a:r>
            <a:r>
              <a:rPr lang="es"/>
              <a:t> o </a:t>
            </a:r>
            <a:r>
              <a:rPr b="1" lang="es"/>
              <a:t>printenv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Algunas de ellas son: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PATH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USER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USERNAME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s"/>
              <a:t>SHELL</a:t>
            </a:r>
            <a:endParaRPr/>
          </a:p>
        </p:txBody>
      </p:sp>
      <p:pic>
        <p:nvPicPr>
          <p:cNvPr id="170" name="Google Shape;170;p26"/>
          <p:cNvPicPr preferRelativeResize="0"/>
          <p:nvPr/>
        </p:nvPicPr>
        <p:blipFill rotWithShape="1">
          <a:blip r:embed="rId3">
            <a:alphaModFix/>
          </a:blip>
          <a:srcRect b="0" l="0" r="0" t="2524"/>
          <a:stretch/>
        </p:blipFill>
        <p:spPr>
          <a:xfrm>
            <a:off x="3105800" y="1745600"/>
            <a:ext cx="5726501" cy="2004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locales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11700" y="1017800"/>
            <a:ext cx="8606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definen como: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VARNAME="value"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Para usarlas en otros subshells se deberán exportar: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export VARNAME=</a:t>
            </a:r>
            <a:r>
              <a:rPr b="1" lang="es"/>
              <a:t>"</a:t>
            </a:r>
            <a:r>
              <a:rPr b="1" lang="es"/>
              <a:t>value</a:t>
            </a:r>
            <a:r>
              <a:rPr b="1" lang="es"/>
              <a:t>"</a:t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6056250" y="679600"/>
            <a:ext cx="218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</a:t>
            </a:r>
            <a:r>
              <a:rPr lang="es" sz="1200">
                <a:solidFill>
                  <a:srgbClr val="CC0000"/>
                </a:solidFill>
                <a:latin typeface="Roboto Serif"/>
                <a:ea typeface="Roboto Serif"/>
                <a:cs typeface="Roboto Serif"/>
                <a:sym typeface="Roboto Serif"/>
              </a:rPr>
              <a:t>colocar espacios alrededor del “=” puede causar errores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)</a:t>
            </a:r>
            <a:endParaRPr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8" name="Google Shape;178;p27"/>
          <p:cNvSpPr txBox="1"/>
          <p:nvPr/>
        </p:nvSpPr>
        <p:spPr>
          <a:xfrm>
            <a:off x="6282750" y="2944850"/>
            <a:ext cx="195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(s</a:t>
            </a:r>
            <a:r>
              <a:rPr lang="es" sz="12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 recomienda el uso de export)</a:t>
            </a:r>
            <a:endParaRPr sz="12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79" name="Google Shape;179;p27"/>
          <p:cNvCxnSpPr>
            <a:endCxn id="177" idx="1"/>
          </p:cNvCxnSpPr>
          <p:nvPr/>
        </p:nvCxnSpPr>
        <p:spPr>
          <a:xfrm flipH="1" rot="10800000">
            <a:off x="4797150" y="1233700"/>
            <a:ext cx="1259100" cy="631800"/>
          </a:xfrm>
          <a:prstGeom prst="bentConnector3">
            <a:avLst>
              <a:gd fmla="val -8" name="adj1"/>
            </a:avLst>
          </a:prstGeom>
          <a:noFill/>
          <a:ln cap="flat" cmpd="sng" w="9525">
            <a:solidFill>
              <a:srgbClr val="99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" name="Google Shape;180;p27"/>
          <p:cNvSpPr txBox="1"/>
          <p:nvPr/>
        </p:nvSpPr>
        <p:spPr>
          <a:xfrm>
            <a:off x="1232575" y="4017000"/>
            <a:ext cx="5816700" cy="461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¡ATENCIÓN! 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Las variables son </a:t>
            </a: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case sensitive</a:t>
            </a: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 rotWithShape="1">
          <a:blip r:embed="rId3">
            <a:alphaModFix/>
          </a:blip>
          <a:srcRect b="4306" l="0" r="0" t="0"/>
          <a:stretch/>
        </p:blipFill>
        <p:spPr>
          <a:xfrm>
            <a:off x="7222225" y="3878546"/>
            <a:ext cx="1259200" cy="1205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Script</a:t>
            </a:r>
            <a:endParaRPr/>
          </a:p>
        </p:txBody>
      </p:sp>
      <p:pic>
        <p:nvPicPr>
          <p:cNvPr id="187" name="Google Shape;1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200" y="2829500"/>
            <a:ext cx="3792325" cy="203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¿Qué es un Script?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Un </a:t>
            </a:r>
            <a:r>
              <a:rPr lang="es"/>
              <a:t>script es una </a:t>
            </a:r>
            <a:r>
              <a:rPr b="1" lang="es"/>
              <a:t>secuencia de comandos y operaciones que el shell puede interpretar y ejecutar</a:t>
            </a:r>
            <a:r>
              <a:rPr lang="es"/>
              <a:t>. </a:t>
            </a:r>
            <a:br>
              <a:rPr lang="es"/>
            </a:br>
            <a:r>
              <a:rPr lang="es"/>
              <a:t>Esta secuencia de comandos se suelen guardar en un archivo de texto con la extensión </a:t>
            </a:r>
            <a:r>
              <a:rPr lang="es" u="sng"/>
              <a:t>.sh</a:t>
            </a:r>
            <a:r>
              <a:rPr lang="es"/>
              <a:t> (ejemplo </a:t>
            </a:r>
            <a:r>
              <a:rPr i="1" lang="es"/>
              <a:t>mi_script.sh</a:t>
            </a:r>
            <a:r>
              <a:rPr lang="es"/>
              <a:t>) que luego se podrá ejecutar utilizando el comando </a:t>
            </a:r>
            <a:r>
              <a:rPr b="1" lang="es">
                <a:solidFill>
                  <a:srgbClr val="0C9AFF"/>
                </a:solidFill>
              </a:rPr>
              <a:t>bash</a:t>
            </a:r>
            <a:r>
              <a:rPr lang="es"/>
              <a:t>, </a:t>
            </a:r>
            <a:r>
              <a:rPr b="1" lang="es">
                <a:solidFill>
                  <a:srgbClr val="0C9AFF"/>
                </a:solidFill>
              </a:rPr>
              <a:t>./</a:t>
            </a:r>
            <a:r>
              <a:rPr lang="es"/>
              <a:t>, </a:t>
            </a:r>
            <a:r>
              <a:rPr b="1" lang="es">
                <a:solidFill>
                  <a:srgbClr val="0C9AFF"/>
                </a:solidFill>
              </a:rPr>
              <a:t>sh</a:t>
            </a:r>
            <a:r>
              <a:rPr lang="es"/>
              <a:t>, etc. </a:t>
            </a:r>
            <a:r>
              <a:rPr lang="es" u="sng"/>
              <a:t>según el shell que estemos utilizando</a:t>
            </a:r>
            <a:r>
              <a:rPr lang="es"/>
              <a:t>.</a:t>
            </a:r>
            <a:br>
              <a:rPr lang="es"/>
            </a:br>
            <a:r>
              <a:rPr lang="es"/>
              <a:t>De esta forma podremos </a:t>
            </a:r>
            <a:r>
              <a:rPr lang="es">
                <a:highlight>
                  <a:srgbClr val="A4DCEF"/>
                </a:highlight>
              </a:rPr>
              <a:t>automatizar tareas</a:t>
            </a:r>
            <a:r>
              <a:rPr lang="es"/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Qué esperamos?</a:t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 Script debería: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Ejecutarse sin errores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R</a:t>
            </a:r>
            <a:r>
              <a:rPr lang="es"/>
              <a:t>ealizar la tarea para la que está destinado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Tener la lógica del programa claramente definida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Evitar el código innecesario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Ser reusable!</a:t>
            </a:r>
            <a:endParaRPr/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9825" y="3884275"/>
            <a:ext cx="1125825" cy="112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Mi primer script</a:t>
            </a:r>
            <a:r>
              <a:rPr lang="es"/>
              <a:t>	</a:t>
            </a:r>
            <a:endParaRPr/>
          </a:p>
        </p:txBody>
      </p:sp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311700" y="1017800"/>
            <a:ext cx="8520600" cy="36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Crear con algún editor un archivo llamado </a:t>
            </a:r>
            <a:r>
              <a:rPr b="1" lang="es"/>
              <a:t>mi_script.sh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Dentro del mismo, incluir el siguiente código: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</a:t>
            </a:r>
            <a:r>
              <a:rPr lang="es"/>
              <a:t>jecutar: </a:t>
            </a:r>
            <a:r>
              <a:rPr b="1" lang="es"/>
              <a:t>bash mi_script.sh</a:t>
            </a:r>
            <a:endParaRPr/>
          </a:p>
        </p:txBody>
      </p:sp>
      <p:sp>
        <p:nvSpPr>
          <p:cNvPr id="207" name="Google Shape;207;p31"/>
          <p:cNvSpPr txBox="1"/>
          <p:nvPr/>
        </p:nvSpPr>
        <p:spPr>
          <a:xfrm>
            <a:off x="2206050" y="1949450"/>
            <a:ext cx="4731900" cy="2185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#!/bin/bash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echo -n “Ingrese un nota: “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read x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if [ $x -ge 4 ]; then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echo “Ud. aprobó el examen”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else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echo “No aprobó el examen, su nota es menor a 4”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fi</a:t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</a:t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"/>
              <a:t>Crear la siguiente estructura de directorios: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Dentro de </a:t>
            </a:r>
            <a:r>
              <a:rPr lang="es" u="sng"/>
              <a:t>Ejercicio1</a:t>
            </a:r>
            <a:r>
              <a:rPr lang="es"/>
              <a:t> crear el archivo un archivo llamado </a:t>
            </a:r>
            <a:r>
              <a:rPr b="1" lang="es"/>
              <a:t>datos_personales.txt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lphaLcPeriod"/>
            </a:pPr>
            <a:r>
              <a:rPr lang="es"/>
              <a:t>Listar el contenido para verificar que exista.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s"/>
              <a:t>Editar el archivo creado y agregar: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4932850" y="3196825"/>
            <a:ext cx="3400200" cy="1861800"/>
          </a:xfrm>
          <a:prstGeom prst="rect">
            <a:avLst/>
          </a:prstGeom>
          <a:solidFill>
            <a:srgbClr val="F3F3F3"/>
          </a:solidFill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28.764.999;Bruno;gutierrez;soltero;36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22.222.222;Alberto;Garcia;casado;55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33.333.333;Claudia;Riccio;soltera;40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55.555.555;Soledad;Villamil;soltera;24</a:t>
            </a:r>
            <a:endParaRPr/>
          </a:p>
        </p:txBody>
      </p:sp>
      <p:sp>
        <p:nvSpPr>
          <p:cNvPr id="220" name="Google Shape;220;p33"/>
          <p:cNvSpPr/>
          <p:nvPr/>
        </p:nvSpPr>
        <p:spPr>
          <a:xfrm>
            <a:off x="4677350" y="3175675"/>
            <a:ext cx="213600" cy="1904100"/>
          </a:xfrm>
          <a:prstGeom prst="leftBrace">
            <a:avLst>
              <a:gd fmla="val 50000" name="adj1"/>
              <a:gd fmla="val 1692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grpSp>
        <p:nvGrpSpPr>
          <p:cNvPr id="221" name="Google Shape;221;p33"/>
          <p:cNvGrpSpPr/>
          <p:nvPr/>
        </p:nvGrpSpPr>
        <p:grpSpPr>
          <a:xfrm>
            <a:off x="5743750" y="569925"/>
            <a:ext cx="1778400" cy="937050"/>
            <a:chOff x="5136850" y="363375"/>
            <a:chExt cx="1778400" cy="937050"/>
          </a:xfrm>
        </p:grpSpPr>
        <p:sp>
          <p:nvSpPr>
            <p:cNvPr id="222" name="Google Shape;222;p33"/>
            <p:cNvSpPr txBox="1"/>
            <p:nvPr/>
          </p:nvSpPr>
          <p:spPr>
            <a:xfrm>
              <a:off x="5136850" y="363375"/>
              <a:ext cx="693000" cy="3849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Intro</a:t>
              </a:r>
              <a:endParaRPr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23" name="Google Shape;223;p33"/>
            <p:cNvSpPr txBox="1"/>
            <p:nvPr/>
          </p:nvSpPr>
          <p:spPr>
            <a:xfrm>
              <a:off x="5829850" y="915525"/>
              <a:ext cx="1085400" cy="3849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Ejercicio1</a:t>
              </a:r>
              <a:endParaRPr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cxnSp>
          <p:nvCxnSpPr>
            <p:cNvPr id="224" name="Google Shape;224;p33"/>
            <p:cNvCxnSpPr>
              <a:stCxn id="222" idx="2"/>
              <a:endCxn id="223" idx="1"/>
            </p:cNvCxnSpPr>
            <p:nvPr/>
          </p:nvCxnSpPr>
          <p:spPr>
            <a:xfrm flipH="1" rot="-5400000">
              <a:off x="5476750" y="754875"/>
              <a:ext cx="359700" cy="346500"/>
            </a:xfrm>
            <a:prstGeom prst="bentConnector2">
              <a:avLst/>
            </a:prstGeom>
            <a:noFill/>
            <a:ln cap="flat" cmpd="sng" w="9525">
              <a:solidFill>
                <a:srgbClr val="0C9A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 u="sng"/>
              <a:t>Visualizar</a:t>
            </a:r>
            <a:r>
              <a:rPr lang="es"/>
              <a:t> el contenido del archivo </a:t>
            </a:r>
            <a:r>
              <a:rPr b="1" lang="es"/>
              <a:t>datos_personales.txt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Realizar una </a:t>
            </a:r>
            <a:r>
              <a:rPr lang="es" u="sng"/>
              <a:t>copia</a:t>
            </a:r>
            <a:r>
              <a:rPr lang="es"/>
              <a:t> del archivo datos_personales.txt, con el nombre </a:t>
            </a:r>
            <a:r>
              <a:rPr b="1" lang="es"/>
              <a:t>datos_personales_modif.txt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 u="sng"/>
              <a:t>Modificar</a:t>
            </a:r>
            <a:r>
              <a:rPr lang="es"/>
              <a:t> el archivo </a:t>
            </a:r>
            <a:r>
              <a:rPr b="1" lang="es"/>
              <a:t>datos_personales_modif.txt</a:t>
            </a:r>
            <a:r>
              <a:rPr lang="es"/>
              <a:t>, cambiando la palabra </a:t>
            </a:r>
            <a:r>
              <a:rPr lang="es">
                <a:highlight>
                  <a:srgbClr val="FFE599"/>
                </a:highlight>
              </a:rPr>
              <a:t>soltero</a:t>
            </a:r>
            <a:r>
              <a:rPr lang="es"/>
              <a:t> por </a:t>
            </a:r>
            <a:r>
              <a:rPr lang="es">
                <a:highlight>
                  <a:srgbClr val="D5A6BD"/>
                </a:highlight>
              </a:rPr>
              <a:t>casado</a:t>
            </a:r>
            <a:endParaRPr>
              <a:highlight>
                <a:srgbClr val="D5A6BD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Contar la </a:t>
            </a:r>
            <a:r>
              <a:rPr lang="es" u="sng"/>
              <a:t>cantidad de letras</a:t>
            </a:r>
            <a:r>
              <a:rPr lang="es"/>
              <a:t> del archivo </a:t>
            </a:r>
            <a:r>
              <a:rPr b="1" lang="es"/>
              <a:t>datos_personales.txt</a:t>
            </a: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3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</a:t>
            </a:r>
            <a:r>
              <a:rPr lang="es" u="sng"/>
              <a:t>script</a:t>
            </a:r>
            <a:r>
              <a:rPr lang="es"/>
              <a:t> que le pregunte al usuario por una </a:t>
            </a:r>
            <a:r>
              <a:rPr b="1" lang="es"/>
              <a:t>extensión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 continuación, el script debe </a:t>
            </a:r>
            <a:r>
              <a:rPr lang="es" u="sng"/>
              <a:t>evaluar la existencia de archivos con esa extensión</a:t>
            </a:r>
            <a:r>
              <a:rPr lang="es"/>
              <a:t> y </a:t>
            </a:r>
            <a:r>
              <a:rPr b="1" lang="es"/>
              <a:t>listarlos por </a:t>
            </a:r>
            <a:r>
              <a:rPr b="1" lang="es"/>
              <a:t>pantalla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35"/>
          <p:cNvGrpSpPr/>
          <p:nvPr/>
        </p:nvGrpSpPr>
        <p:grpSpPr>
          <a:xfrm>
            <a:off x="639538" y="3130100"/>
            <a:ext cx="7864925" cy="1226700"/>
            <a:chOff x="536700" y="3130100"/>
            <a:chExt cx="7864925" cy="1226700"/>
          </a:xfrm>
        </p:grpSpPr>
        <p:pic>
          <p:nvPicPr>
            <p:cNvPr id="238" name="Google Shape;238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6700" y="3130100"/>
              <a:ext cx="2967799" cy="12267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9" name="Google Shape;239;p35"/>
            <p:cNvCxnSpPr/>
            <p:nvPr/>
          </p:nvCxnSpPr>
          <p:spPr>
            <a:xfrm>
              <a:off x="3504500" y="3824300"/>
              <a:ext cx="1146000" cy="0"/>
            </a:xfrm>
            <a:prstGeom prst="straightConnector1">
              <a:avLst/>
            </a:prstGeom>
            <a:noFill/>
            <a:ln cap="flat" cmpd="sng" w="9525">
              <a:solidFill>
                <a:srgbClr val="0C9A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40" name="Google Shape;240;p35"/>
            <p:cNvSpPr txBox="1"/>
            <p:nvPr/>
          </p:nvSpPr>
          <p:spPr>
            <a:xfrm>
              <a:off x="3737750" y="3491200"/>
              <a:ext cx="6795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xlsx</a:t>
              </a:r>
              <a:endParaRPr sz="13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241" name="Google Shape;241;p35"/>
            <p:cNvSpPr txBox="1"/>
            <p:nvPr/>
          </p:nvSpPr>
          <p:spPr>
            <a:xfrm>
              <a:off x="4837025" y="3608750"/>
              <a:ext cx="3564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600">
                  <a:solidFill>
                    <a:schemeClr val="dk2"/>
                  </a:solidFill>
                  <a:latin typeface="Roboto Serif"/>
                  <a:ea typeface="Roboto Serif"/>
                  <a:cs typeface="Roboto Serif"/>
                  <a:sym typeface="Roboto Serif"/>
                </a:rPr>
                <a:t>Apertura RI 2023.xlsx</a:t>
              </a:r>
              <a:endParaRPr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4</a:t>
            </a:r>
            <a:endParaRPr/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</a:t>
            </a:r>
            <a:r>
              <a:rPr lang="es" u="sng"/>
              <a:t>script</a:t>
            </a:r>
            <a:r>
              <a:rPr lang="es"/>
              <a:t> que reciba un parámetro y </a:t>
            </a:r>
            <a:r>
              <a:rPr lang="es"/>
              <a:t>determine…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Si es </a:t>
            </a:r>
            <a:r>
              <a:rPr lang="es"/>
              <a:t>un directorio → que liste los archivos contenidos dentro del mismo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Si es un archivo → que muestre por pantalla su contenido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s"/>
              <a:t>En otro caso → que muestre por pantalla el mensaje: </a:t>
            </a:r>
            <a:r>
              <a:rPr i="1" lang="es"/>
              <a:t>“No es archivo, ni directorio”</a:t>
            </a:r>
            <a:endParaRPr i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la clase que viene…</a:t>
            </a:r>
            <a:endParaRPr/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s"/>
              <a:t>Seguir con la </a:t>
            </a:r>
            <a:r>
              <a:rPr lang="es" u="sng">
                <a:solidFill>
                  <a:schemeClr val="hlink"/>
                </a:solidFill>
                <a:hlinkClick r:id="rId3"/>
              </a:rPr>
              <a:t>Guía 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