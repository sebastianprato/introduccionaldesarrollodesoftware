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Roboto Serif"/>
      <p:regular r:id="rId33"/>
      <p:bold r:id="rId34"/>
      <p:italic r:id="rId35"/>
      <p:boldItalic r:id="rId36"/>
    </p:embeddedFont>
    <p:embeddedFont>
      <p:font typeface="Roboto Mon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1BB82D-4A2E-405A-B506-740030F32A49}">
  <a:tblStyle styleId="{A81BB82D-4A2E-405A-B506-740030F32A4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Serif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obotoSerif-italic.fntdata"/><Relationship Id="rId12" Type="http://schemas.openxmlformats.org/officeDocument/2006/relationships/slide" Target="slides/slide6.xml"/><Relationship Id="rId34" Type="http://schemas.openxmlformats.org/officeDocument/2006/relationships/font" Target="fonts/RobotoSerif-bold.fntdata"/><Relationship Id="rId15" Type="http://schemas.openxmlformats.org/officeDocument/2006/relationships/slide" Target="slides/slide9.xml"/><Relationship Id="rId37" Type="http://schemas.openxmlformats.org/officeDocument/2006/relationships/font" Target="fonts/RobotoMono-regular.fntdata"/><Relationship Id="rId14" Type="http://schemas.openxmlformats.org/officeDocument/2006/relationships/slide" Target="slides/slide8.xml"/><Relationship Id="rId36" Type="http://schemas.openxmlformats.org/officeDocument/2006/relationships/font" Target="fonts/RobotoSerif-boldItalic.fntdata"/><Relationship Id="rId17" Type="http://schemas.openxmlformats.org/officeDocument/2006/relationships/slide" Target="slides/slide11.xml"/><Relationship Id="rId39" Type="http://schemas.openxmlformats.org/officeDocument/2006/relationships/font" Target="fonts/RobotoMono-italic.fntdata"/><Relationship Id="rId16" Type="http://schemas.openxmlformats.org/officeDocument/2006/relationships/slide" Target="slides/slide10.xml"/><Relationship Id="rId38" Type="http://schemas.openxmlformats.org/officeDocument/2006/relationships/font" Target="fonts/RobotoMono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f1f08e7f1e_0_3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f1f08e7f1e_0_3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f1f0e37d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f1f0e37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f4a93601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f4a93601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f4a9360149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f4a9360149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f4a9360149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f4a9360149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f4a9360149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f4a9360149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f4a936014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f4a936014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f4a9360149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f4a9360149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f4a9360149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f4a9360149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f4a9360149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f4a9360149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f4a9360149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f4a9360149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f4a9360149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f4a9360149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f4b555e5e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f4b555e5e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f4a9360149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f4a9360149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f4a9360149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f4a9360149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f4a936014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f4a936014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f4a9360149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f4a9360149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f4a9360149_1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f4a9360149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f4a9360149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f4a9360149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f4ae2490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f4ae2490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f4ae24909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1f4ae2490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f4ae24909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f4ae2490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f4ae24909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f4ae24909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9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20.png"/><Relationship Id="rId7" Type="http://schemas.openxmlformats.org/officeDocument/2006/relationships/image" Target="../media/image15.png"/><Relationship Id="rId8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19.png"/><Relationship Id="rId7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python.org/downloads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I - Lanzillotta</a:t>
            </a:r>
            <a:endParaRPr/>
          </a:p>
        </p:txBody>
      </p:sp>
      <p:sp>
        <p:nvSpPr>
          <p:cNvPr id="98" name="Google Shape;98;p14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Introducción al desarrollo web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Introducción al backend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Introducción al frontend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Ejemplo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</a:t>
            </a:r>
            <a:r>
              <a:rPr lang="es"/>
              <a:t> al Desarrollo Web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Desarrollo Web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400"/>
              <a:t>El desarrollo web es el </a:t>
            </a:r>
            <a:r>
              <a:rPr b="1" lang="es" sz="1400"/>
              <a:t>proceso de crear y mantener sitios y aplicaciones web</a:t>
            </a:r>
            <a:r>
              <a:rPr lang="es" sz="1400"/>
              <a:t>. Abarca una amplia gama de tareas, desde el diseño y la planificación hasta la codificación y la implementación. El desarrollo Web se suele separar entre </a:t>
            </a:r>
            <a:r>
              <a:rPr b="1" lang="es" sz="1400"/>
              <a:t>Front end </a:t>
            </a:r>
            <a:r>
              <a:rPr lang="es" sz="1400"/>
              <a:t>y </a:t>
            </a:r>
            <a:r>
              <a:rPr b="1" lang="es" sz="1400"/>
              <a:t>Back end</a:t>
            </a:r>
            <a:endParaRPr b="1" sz="1400"/>
          </a:p>
        </p:txBody>
      </p:sp>
      <p:pic>
        <p:nvPicPr>
          <p:cNvPr id="116" name="Google Shape;116;p17"/>
          <p:cNvPicPr preferRelativeResize="0"/>
          <p:nvPr/>
        </p:nvPicPr>
        <p:blipFill rotWithShape="1">
          <a:blip r:embed="rId3">
            <a:alphaModFix/>
          </a:blip>
          <a:srcRect b="14471" l="0" r="2286" t="0"/>
          <a:stretch/>
        </p:blipFill>
        <p:spPr>
          <a:xfrm>
            <a:off x="1751800" y="2223025"/>
            <a:ext cx="4875276" cy="21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</a:t>
            </a:r>
            <a:r>
              <a:rPr lang="es"/>
              <a:t> al backend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el Backend?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El </a:t>
            </a:r>
            <a:r>
              <a:rPr b="1" lang="es" sz="1400"/>
              <a:t>back end (o backend)</a:t>
            </a:r>
            <a:r>
              <a:rPr lang="es" sz="1400"/>
              <a:t>, también conocido como </a:t>
            </a:r>
            <a:r>
              <a:rPr lang="es" sz="1400" u="sng"/>
              <a:t>desarrollo del lado del servidor</a:t>
            </a:r>
            <a:r>
              <a:rPr lang="es" sz="1400"/>
              <a:t>, se refiere a la parte de un sitio web o aplicación web que no es visible para los usuarios. Se encarga de la lógica de la aplicación, el almacenamiento de datos y la comunicación con el servidor. Entre sus tareas se encuentran: 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Implementar la lógica de la aplicación.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Almacenar y recuperar datos de una base de datos.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Procesar solicitudes y enviar respuestas al usuario.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Asegurar la seguridad del sitio web.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625" y="2338575"/>
            <a:ext cx="1435644" cy="1573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Frameworks de Back End</a:t>
            </a:r>
            <a:endParaRPr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311700" y="1017800"/>
            <a:ext cx="8520600" cy="9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600"/>
              <a:t>Existen muchas herramientas para armar el back end de una </a:t>
            </a:r>
            <a:r>
              <a:rPr lang="es" sz="1600"/>
              <a:t>aplicación</a:t>
            </a:r>
            <a:r>
              <a:rPr lang="es" sz="1600"/>
              <a:t> o sitio web, dependiendo de la </a:t>
            </a:r>
            <a:r>
              <a:rPr lang="es" sz="1600"/>
              <a:t>tecnología</a:t>
            </a:r>
            <a:r>
              <a:rPr lang="es" sz="1600"/>
              <a:t> que se esté utilizando.</a:t>
            </a:r>
            <a:endParaRPr sz="1600"/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005639"/>
            <a:ext cx="2695775" cy="1132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9373" y="3782550"/>
            <a:ext cx="2001953" cy="72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77375" y="2198975"/>
            <a:ext cx="1158575" cy="139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04875" y="2223059"/>
            <a:ext cx="1739400" cy="791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2277" y="3231826"/>
            <a:ext cx="805272" cy="1132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02400" y="3339163"/>
            <a:ext cx="1061851" cy="1061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46425" y="3257705"/>
            <a:ext cx="2001951" cy="1224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914888" y="2145174"/>
            <a:ext cx="2364688" cy="6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/>
          <p:nvPr/>
        </p:nvSpPr>
        <p:spPr>
          <a:xfrm>
            <a:off x="5239150" y="1952425"/>
            <a:ext cx="1842900" cy="19593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Flask</a:t>
            </a:r>
            <a:endParaRPr/>
          </a:p>
        </p:txBody>
      </p:sp>
      <p:sp>
        <p:nvSpPr>
          <p:cNvPr id="149" name="Google Shape;149;p21"/>
          <p:cNvSpPr txBox="1"/>
          <p:nvPr>
            <p:ph idx="1" type="body"/>
          </p:nvPr>
        </p:nvSpPr>
        <p:spPr>
          <a:xfrm>
            <a:off x="311700" y="1017800"/>
            <a:ext cx="8520600" cy="3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Flask es un </a:t>
            </a:r>
            <a:r>
              <a:rPr b="1" lang="es" sz="1600"/>
              <a:t>framework web </a:t>
            </a:r>
            <a:r>
              <a:rPr lang="es" sz="1600"/>
              <a:t>para </a:t>
            </a:r>
            <a:r>
              <a:rPr b="1" lang="es" sz="1600"/>
              <a:t>Python</a:t>
            </a:r>
            <a:r>
              <a:rPr lang="es" sz="1600"/>
              <a:t>. Es minimalista y se enfoca en proporcionar las herramientas básicas para construir aplicaciones web. En lugar de incluir funcionalidades predefinidas como manejo de base de datos o validación de formularios, Flask permite a los desarrolladores elegir las librerías y herramientas adicionales que </a:t>
            </a:r>
            <a:r>
              <a:rPr lang="es" sz="1600"/>
              <a:t>necesite</a:t>
            </a:r>
            <a:r>
              <a:rPr lang="es" sz="1600"/>
              <a:t> para su proyecto.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Más adelante veremos </a:t>
            </a:r>
            <a:r>
              <a:rPr lang="es" sz="1600"/>
              <a:t>cómo</a:t>
            </a:r>
            <a:r>
              <a:rPr lang="es" sz="1600"/>
              <a:t> utilizar de manera </a:t>
            </a:r>
            <a:r>
              <a:rPr lang="es" sz="1600"/>
              <a:t>básica</a:t>
            </a:r>
            <a:r>
              <a:rPr lang="es" sz="1600"/>
              <a:t> ciertas funcionalidades de Flask y en las siguientes clases profundizaremos sobre aspectos del desarrollo back end.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</a:t>
            </a:r>
            <a:r>
              <a:rPr lang="es"/>
              <a:t> al Front end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el</a:t>
            </a:r>
            <a:r>
              <a:rPr lang="es"/>
              <a:t> Front end?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3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El </a:t>
            </a:r>
            <a:r>
              <a:rPr b="1" lang="es" sz="1400"/>
              <a:t>front end (o frontend)</a:t>
            </a:r>
            <a:r>
              <a:rPr lang="es" sz="1400"/>
              <a:t>, también conocido como </a:t>
            </a:r>
            <a:r>
              <a:rPr lang="es" sz="1400" u="sng"/>
              <a:t>desarrollo del lado del cliente</a:t>
            </a:r>
            <a:r>
              <a:rPr lang="es" sz="1400"/>
              <a:t>, se refiere a la parte de un sitio web o aplicación web con la que los usuarios interactúan directamente. Es la cara visible del sitio, y se encarga de la </a:t>
            </a:r>
            <a:r>
              <a:rPr b="1" lang="es" sz="1400"/>
              <a:t>interfaz de usuario (UI) </a:t>
            </a:r>
            <a:r>
              <a:rPr lang="es" sz="1400"/>
              <a:t>y la </a:t>
            </a:r>
            <a:r>
              <a:rPr b="1" lang="es" sz="1400"/>
              <a:t>experiencia del usuario (UX)</a:t>
            </a:r>
            <a:r>
              <a:rPr lang="es" sz="1400"/>
              <a:t>. Entre sus tareas se encuentran: 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Diseñar la estructura y el layout de la página web.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Implementar la lógica de la interfaz de usuario.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Agregar elementos interactivos como botones, menús y formularios.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Optimizar el rendimiento del sitio web para diferentes dispositivos.</a:t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Lenguajes</a:t>
            </a:r>
            <a:r>
              <a:rPr lang="es"/>
              <a:t> del Front end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4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Para el desarrollo del front end de una aplicación se suele utilizar un </a:t>
            </a:r>
            <a:r>
              <a:rPr b="1" lang="es" sz="1700"/>
              <a:t>stack </a:t>
            </a:r>
            <a:r>
              <a:rPr lang="es" sz="1700"/>
              <a:t>básico de desarrollo, y éste cuenta de las siguientes 3 tecnolo</a:t>
            </a:r>
            <a:r>
              <a:rPr lang="es"/>
              <a:t>gías: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4"/>
          <p:cNvPicPr preferRelativeResize="0"/>
          <p:nvPr/>
        </p:nvPicPr>
        <p:blipFill rotWithShape="1">
          <a:blip r:embed="rId3">
            <a:alphaModFix/>
          </a:blip>
          <a:srcRect b="13079" l="27215" r="28191" t="12092"/>
          <a:stretch/>
        </p:blipFill>
        <p:spPr>
          <a:xfrm>
            <a:off x="1112387" y="2320200"/>
            <a:ext cx="1722351" cy="216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0860" y="2320200"/>
            <a:ext cx="1538641" cy="216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45625" y="2276163"/>
            <a:ext cx="2085975" cy="225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HTML</a:t>
            </a:r>
            <a:endParaRPr/>
          </a:p>
        </p:txBody>
      </p:sp>
      <p:sp>
        <p:nvSpPr>
          <p:cNvPr id="175" name="Google Shape;175;p2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s" sz="1400"/>
              <a:t>HTML </a:t>
            </a:r>
            <a:r>
              <a:rPr i="1" lang="es" sz="1400"/>
              <a:t>(HyperText Markup Language) </a:t>
            </a:r>
            <a:r>
              <a:rPr lang="es" sz="1400"/>
              <a:t>es un </a:t>
            </a:r>
            <a:r>
              <a:rPr b="1" lang="es" sz="1400"/>
              <a:t>lenguaje de marcado </a:t>
            </a:r>
            <a:r>
              <a:rPr lang="es" sz="1400"/>
              <a:t>que define la estructura del contenido de una página Web. Este lenguaje consiste en una serie de elementos que usarás para encerrar diferentes partes del contenido para que se vean o comporten de una determinada manera.</a:t>
            </a:r>
            <a:br>
              <a:rPr lang="es" sz="1400"/>
            </a:br>
            <a:br>
              <a:rPr lang="es" sz="1400"/>
            </a:br>
            <a:r>
              <a:rPr lang="es" sz="1400" u="sng"/>
              <a:t>Importante:</a:t>
            </a:r>
            <a:r>
              <a:rPr lang="es" sz="1400"/>
              <a:t> </a:t>
            </a:r>
            <a:r>
              <a:rPr b="1" lang="es" sz="1400"/>
              <a:t>HTML no es un lenguaje de programación</a:t>
            </a:r>
            <a:r>
              <a:rPr lang="es" sz="1400"/>
              <a:t>. Es un lenguaje de marcado. Sirve para indicar una estructura de elementos, no para dar instrucciones a la máquina.</a:t>
            </a:r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CSS</a:t>
            </a:r>
            <a:endParaRPr/>
          </a:p>
        </p:txBody>
      </p:sp>
      <p:sp>
        <p:nvSpPr>
          <p:cNvPr id="181" name="Google Shape;181;p26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CSS </a:t>
            </a:r>
            <a:r>
              <a:rPr i="1" lang="es" sz="1400"/>
              <a:t>(Cascading Style Sheets) </a:t>
            </a:r>
            <a:r>
              <a:rPr lang="es" sz="1400"/>
              <a:t>u </a:t>
            </a:r>
            <a:r>
              <a:rPr i="1" lang="es" sz="1400"/>
              <a:t>Hojas de estilo en cascada </a:t>
            </a:r>
            <a:r>
              <a:rPr lang="es" sz="1400"/>
              <a:t>es un </a:t>
            </a:r>
            <a:r>
              <a:rPr b="1" lang="es" sz="1400"/>
              <a:t>lenguaje de hojas de estilo</a:t>
            </a:r>
            <a:r>
              <a:rPr lang="es" sz="1400"/>
              <a:t>, es decir, te permite aplicar estilos de manera selectiva a elementos en documentos HTML.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400" u="sng"/>
              <a:t>Importante:</a:t>
            </a:r>
            <a:r>
              <a:rPr lang="es" sz="1400"/>
              <a:t> </a:t>
            </a:r>
            <a:r>
              <a:rPr b="1" lang="es" sz="1400"/>
              <a:t>CSS no es un lenguaje de programación. Tampoco de marcado.</a:t>
            </a:r>
            <a:r>
              <a:rPr lang="es" sz="1400"/>
              <a:t> Es un lenguaje de hojas de estilo. Sirve para dar estilo a elementos que ya fueron previamente indicados y ubicados en una estructura. Otros ejemplos de lenguajes de estilo son XSL y Sass.</a:t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Javascript</a:t>
            </a:r>
            <a:endParaRPr/>
          </a:p>
        </p:txBody>
      </p:sp>
      <p:sp>
        <p:nvSpPr>
          <p:cNvPr id="187" name="Google Shape;187;p2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400"/>
              <a:t>JavaScript es un </a:t>
            </a:r>
            <a:r>
              <a:rPr b="1" lang="es" sz="1400"/>
              <a:t>lenguaje de programación</a:t>
            </a:r>
            <a:r>
              <a:rPr lang="es" sz="1400"/>
              <a:t> que se utiliza para añadir interactividad a las páginas web. Permite crear animaciones, juegos, formularios dinámicos y mucho más. Es uno de los lenguajes de programación más populares del mundo y se utiliza en millones de sitios web.</a:t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Javascript - ejemplo de código</a:t>
            </a:r>
            <a:endParaRPr/>
          </a:p>
        </p:txBody>
      </p:sp>
      <p:sp>
        <p:nvSpPr>
          <p:cNvPr id="193" name="Google Shape;193;p28"/>
          <p:cNvSpPr txBox="1"/>
          <p:nvPr>
            <p:ph idx="1" type="body"/>
          </p:nvPr>
        </p:nvSpPr>
        <p:spPr>
          <a:xfrm>
            <a:off x="463925" y="1017800"/>
            <a:ext cx="5115900" cy="34845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396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getElementById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396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"titulo"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addEventListener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396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"mouseover"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, () </a:t>
            </a:r>
            <a:r>
              <a:rPr i="1" lang="es" sz="1396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alert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396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"Hola"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})</a:t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396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changeColor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getElementById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396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"change-color"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changeColor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onclick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i="1" lang="es" sz="1396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i="1" lang="es" sz="1396">
                <a:solidFill>
                  <a:srgbClr val="FD971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event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1396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randomNumber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().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toString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1396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G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randomNumber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().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toString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s" sz="1396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randomNumber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().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toString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()</a:t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color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`rgb(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s" sz="1396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G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s" sz="1396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es" sz="1396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)`</a:t>
            </a:r>
            <a:endParaRPr sz="1396">
              <a:solidFill>
                <a:srgbClr val="E6DB74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396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randomNumber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() {</a:t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1396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Math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random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() </a:t>
            </a:r>
            <a:r>
              <a:rPr lang="es" sz="1396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96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256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).</a:t>
            </a:r>
            <a:r>
              <a:rPr lang="es" sz="1396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toFixed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396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396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96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400"/>
          </a:p>
        </p:txBody>
      </p:sp>
      <p:sp>
        <p:nvSpPr>
          <p:cNvPr id="194" name="Google Shape;194;p28"/>
          <p:cNvSpPr txBox="1"/>
          <p:nvPr/>
        </p:nvSpPr>
        <p:spPr>
          <a:xfrm>
            <a:off x="5932625" y="1437325"/>
            <a:ext cx="3062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Más adelante explicaremos qué está ocurriendo en este script, no hace falta que lo entiendan ahora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Javascript</a:t>
            </a:r>
            <a:endParaRPr/>
          </a:p>
        </p:txBody>
      </p:sp>
      <p:sp>
        <p:nvSpPr>
          <p:cNvPr id="200" name="Google Shape;200;p29"/>
          <p:cNvSpPr txBox="1"/>
          <p:nvPr>
            <p:ph idx="1" type="body"/>
          </p:nvPr>
        </p:nvSpPr>
        <p:spPr>
          <a:xfrm>
            <a:off x="474975" y="902250"/>
            <a:ext cx="4099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datos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9"/>
          <p:cNvSpPr txBox="1"/>
          <p:nvPr>
            <p:ph idx="1" type="body"/>
          </p:nvPr>
        </p:nvSpPr>
        <p:spPr>
          <a:xfrm>
            <a:off x="4574475" y="902250"/>
            <a:ext cx="4257900" cy="36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Operaciones</a:t>
            </a:r>
            <a:endParaRPr/>
          </a:p>
        </p:txBody>
      </p:sp>
      <p:graphicFrame>
        <p:nvGraphicFramePr>
          <p:cNvPr id="202" name="Google Shape;202;p29"/>
          <p:cNvGraphicFramePr/>
          <p:nvPr/>
        </p:nvGraphicFramePr>
        <p:xfrm>
          <a:off x="86600" y="1449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{A81BB82D-4A2E-405A-B506-740030F32A49}</a:tableStyleId>
              </a:tblPr>
              <a:tblGrid>
                <a:gridCol w="1041300"/>
                <a:gridCol w="3106925"/>
              </a:tblGrid>
              <a:tr h="57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Number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Representa un número, no lleva comillas.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7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String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Cadena de texto, debe ir entre comillas.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7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Boolean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Tienen valor verdadero/falso (true/false). No llevan comillas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7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Array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</a:t>
                      </a:r>
                      <a:r>
                        <a:rPr lang="es"/>
                        <a:t>structura que permite almacenar varios valores en una sola referencia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7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Object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Básicamente cualquier cosa. Todo en javascript es un objeto.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03" name="Google Shape;203;p29"/>
          <p:cNvGraphicFramePr/>
          <p:nvPr/>
        </p:nvGraphicFramePr>
        <p:xfrm>
          <a:off x="4447950" y="132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{A81BB82D-4A2E-405A-B506-740030F32A49}</a:tableStyleId>
              </a:tblPr>
              <a:tblGrid>
                <a:gridCol w="1378850"/>
                <a:gridCol w="2591900"/>
                <a:gridCol w="620750"/>
              </a:tblGrid>
              <a:tr h="56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Suma/ </a:t>
                      </a:r>
                      <a:r>
                        <a:rPr lang="es"/>
                        <a:t>Concatenación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</a:t>
                      </a:r>
                      <a:r>
                        <a:rPr lang="es"/>
                        <a:t>uma dos números, o junta dos cadenas en una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3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Resta, multiplicación, división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Mismo resultado matemático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-, *, /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Asignación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Asigna un valor a una variable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=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47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Identidad/ Igualdad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Comprueba si dos valores son iguales entre sí, y devuelve un booleano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===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67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Negación/ Distinto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U</a:t>
                      </a:r>
                      <a:r>
                        <a:rPr lang="es"/>
                        <a:t>tilizado con el operador de identidad, la negación es en JS el equivalente al operador lógico NOT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!, !==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Frameworks de frontend</a:t>
            </a:r>
            <a:endParaRPr/>
          </a:p>
        </p:txBody>
      </p:sp>
      <p:pic>
        <p:nvPicPr>
          <p:cNvPr id="209" name="Google Shape;20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632" y="1128075"/>
            <a:ext cx="1659800" cy="144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0"/>
          <p:cNvPicPr preferRelativeResize="0"/>
          <p:nvPr/>
        </p:nvPicPr>
        <p:blipFill rotWithShape="1">
          <a:blip r:embed="rId4">
            <a:alphaModFix/>
          </a:blip>
          <a:srcRect b="6511" l="10522" r="11474" t="9792"/>
          <a:stretch/>
        </p:blipFill>
        <p:spPr>
          <a:xfrm>
            <a:off x="1994690" y="1186400"/>
            <a:ext cx="1345478" cy="144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51428" y="1217188"/>
            <a:ext cx="1596194" cy="138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0"/>
          <p:cNvPicPr preferRelativeResize="0"/>
          <p:nvPr/>
        </p:nvPicPr>
        <p:blipFill rotWithShape="1">
          <a:blip r:embed="rId6">
            <a:alphaModFix/>
          </a:blip>
          <a:srcRect b="0" l="7684" r="7684" t="0"/>
          <a:stretch/>
        </p:blipFill>
        <p:spPr>
          <a:xfrm>
            <a:off x="5358880" y="1217199"/>
            <a:ext cx="1939675" cy="1156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09814" y="812150"/>
            <a:ext cx="1510550" cy="181792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0"/>
          <p:cNvSpPr txBox="1"/>
          <p:nvPr/>
        </p:nvSpPr>
        <p:spPr>
          <a:xfrm>
            <a:off x="157500" y="2682025"/>
            <a:ext cx="88290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   React                 Angular                Vue.js                 Ember.js                   Svelte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15" name="Google Shape;215;p30"/>
          <p:cNvSpPr txBox="1"/>
          <p:nvPr/>
        </p:nvSpPr>
        <p:spPr>
          <a:xfrm>
            <a:off x="239900" y="3183625"/>
            <a:ext cx="88290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No trataremos en profundidad con ninguno de estos frameworks en esta materia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práctico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Instalaciones necesarias</a:t>
            </a:r>
            <a:endParaRPr/>
          </a:p>
        </p:txBody>
      </p:sp>
      <p:sp>
        <p:nvSpPr>
          <p:cNvPr id="226" name="Google Shape;226;p32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-Verificar que tenemos instalado </a:t>
            </a:r>
            <a:r>
              <a:rPr lang="es" u="sng">
                <a:solidFill>
                  <a:schemeClr val="hlink"/>
                </a:solidFill>
                <a:hlinkClick r:id="rId3"/>
              </a:rPr>
              <a:t>Python</a:t>
            </a:r>
            <a:r>
              <a:rPr lang="es"/>
              <a:t>.</a:t>
            </a:r>
            <a:br>
              <a:rPr lang="es"/>
            </a:br>
            <a:r>
              <a:rPr lang="es"/>
              <a:t>-Actualizar pip  -&gt; Pip es un sistema de gestión de paquetes</a:t>
            </a:r>
            <a:endParaRPr/>
          </a:p>
          <a:p>
            <a:pPr indent="0" lvl="0" marL="177800" marR="1778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Windows : </a:t>
            </a:r>
            <a:r>
              <a:rPr lang="es"/>
              <a:t>python -m pip install -U pip </a:t>
            </a:r>
            <a:endParaRPr/>
          </a:p>
          <a:p>
            <a:pPr indent="0" lvl="0" marL="177800" marR="1778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s"/>
              <a:t>Linux: pip install -U pip</a:t>
            </a:r>
            <a:endParaRPr/>
          </a:p>
          <a:p>
            <a:pPr indent="0" lvl="0" marL="177800" marR="177800" rtl="0" algn="l">
              <a:lnSpc>
                <a:spcPct val="15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s"/>
              <a:t>Mac: pip install -U pip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Entorno virtual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Virtual environment</a:t>
            </a:r>
            <a:endParaRPr/>
          </a:p>
        </p:txBody>
      </p:sp>
      <p:sp>
        <p:nvSpPr>
          <p:cNvPr id="237" name="Google Shape;237;p34"/>
          <p:cNvSpPr txBox="1"/>
          <p:nvPr>
            <p:ph idx="1" type="body"/>
          </p:nvPr>
        </p:nvSpPr>
        <p:spPr>
          <a:xfrm>
            <a:off x="311700" y="1017800"/>
            <a:ext cx="8520600" cy="33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Para comenzar con este ejemplo utilizaremos un </a:t>
            </a:r>
            <a:r>
              <a:rPr b="1" lang="es" sz="1400"/>
              <a:t>entorno virtual</a:t>
            </a:r>
            <a:r>
              <a:rPr lang="es" sz="1400"/>
              <a:t>. Los entornos virtuales nos permiten instalar y utilizar librerías y la </a:t>
            </a:r>
            <a:r>
              <a:rPr lang="es" sz="1400"/>
              <a:t>versión</a:t>
            </a:r>
            <a:r>
              <a:rPr lang="es" sz="1400"/>
              <a:t> de Python necesaria para nuestro proyecto.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Para esto utilizaremos pipenv en nuestra carpeta del proyecto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Luego instalaremos la libreria flask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Podemos verificar las dependencias instaladas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400"/>
              <a:t>Entonces podemos comenzar nuestro proyecto</a:t>
            </a:r>
            <a:endParaRPr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Flask - Estructura </a:t>
            </a:r>
            <a:r>
              <a:rPr lang="es"/>
              <a:t>básica</a:t>
            </a:r>
            <a:endParaRPr/>
          </a:p>
        </p:txBody>
      </p:sp>
      <p:sp>
        <p:nvSpPr>
          <p:cNvPr id="243" name="Google Shape;243;p35"/>
          <p:cNvSpPr txBox="1"/>
          <p:nvPr/>
        </p:nvSpPr>
        <p:spPr>
          <a:xfrm>
            <a:off x="311700" y="1017800"/>
            <a:ext cx="3693900" cy="21042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solidFill>
                  <a:srgbClr val="C586C0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50">
                <a:solidFill>
                  <a:srgbClr val="4EC9B0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flask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50">
                <a:solidFill>
                  <a:srgbClr val="C586C0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50">
                <a:solidFill>
                  <a:srgbClr val="4EC9B0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Flask</a:t>
            </a:r>
            <a:endParaRPr sz="1550">
              <a:solidFill>
                <a:srgbClr val="4EC9B0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solidFill>
                  <a:srgbClr val="9CDCF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50">
                <a:solidFill>
                  <a:srgbClr val="D4D4D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50">
                <a:solidFill>
                  <a:srgbClr val="4EC9B0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Flask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550">
                <a:solidFill>
                  <a:srgbClr val="9CDCF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__name__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solidFill>
                  <a:srgbClr val="C586C0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50">
                <a:solidFill>
                  <a:srgbClr val="9CDCF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__name__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50">
                <a:solidFill>
                  <a:srgbClr val="D4D4D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50">
                <a:solidFill>
                  <a:srgbClr val="CE9178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"__main__"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550">
                <a:solidFill>
                  <a:srgbClr val="9CDCF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" sz="1550">
                <a:solidFill>
                  <a:srgbClr val="DCDCAA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run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550">
                <a:solidFill>
                  <a:srgbClr val="9CDCF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debug</a:t>
            </a:r>
            <a:r>
              <a:rPr lang="es" sz="1550">
                <a:solidFill>
                  <a:srgbClr val="D4D4D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550">
                <a:solidFill>
                  <a:srgbClr val="569CD6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4" name="Google Shape;244;p35"/>
          <p:cNvSpPr txBox="1"/>
          <p:nvPr/>
        </p:nvSpPr>
        <p:spPr>
          <a:xfrm>
            <a:off x="4357925" y="1017800"/>
            <a:ext cx="4392600" cy="23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Este código nos permite levantar el servidor de nuestro sitio.</a:t>
            </a:r>
            <a:br>
              <a:rPr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r>
              <a:rPr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Por medio del </a:t>
            </a:r>
            <a:r>
              <a:rPr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parámetro</a:t>
            </a:r>
            <a:r>
              <a:rPr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debug podremos ver los cambios en tiempo real.</a:t>
            </a:r>
            <a:endParaRPr sz="15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Por medio de funciones podremos renderizar contenido HTML tanto </a:t>
            </a:r>
            <a:r>
              <a:rPr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estática</a:t>
            </a:r>
            <a:r>
              <a:rPr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como </a:t>
            </a:r>
            <a:r>
              <a:rPr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dinámicamente</a:t>
            </a:r>
            <a:r>
              <a:rPr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.</a:t>
            </a:r>
            <a:endParaRPr sz="15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5" name="Google Shape;245;p35"/>
          <p:cNvSpPr txBox="1"/>
          <p:nvPr/>
        </p:nvSpPr>
        <p:spPr>
          <a:xfrm>
            <a:off x="466525" y="3375800"/>
            <a:ext cx="3000000" cy="10707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solidFill>
                  <a:srgbClr val="DCDCAA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@</a:t>
            </a:r>
            <a:r>
              <a:rPr lang="es" sz="1550">
                <a:solidFill>
                  <a:srgbClr val="9CDCF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es" sz="1550">
                <a:solidFill>
                  <a:srgbClr val="DCDCAA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.route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550">
                <a:solidFill>
                  <a:srgbClr val="CE9178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'/'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solidFill>
                  <a:srgbClr val="569CD6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50">
                <a:solidFill>
                  <a:srgbClr val="DCDCAA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():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550">
                <a:solidFill>
                  <a:srgbClr val="C586C0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50">
                <a:solidFill>
                  <a:srgbClr val="CE9178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"Hola mundo"</a:t>
            </a:r>
            <a:endParaRPr sz="1550">
              <a:solidFill>
                <a:srgbClr val="CE9178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46" name="Google Shape;24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5600" y="3311625"/>
            <a:ext cx="3171825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HTML - Ejemplo de una página</a:t>
            </a:r>
            <a:endParaRPr/>
          </a:p>
        </p:txBody>
      </p:sp>
      <p:sp>
        <p:nvSpPr>
          <p:cNvPr id="252" name="Google Shape;252;p36"/>
          <p:cNvSpPr txBox="1"/>
          <p:nvPr>
            <p:ph idx="1" type="body"/>
          </p:nvPr>
        </p:nvSpPr>
        <p:spPr>
          <a:xfrm>
            <a:off x="2159700" y="1017800"/>
            <a:ext cx="4824600" cy="36018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&lt;!</a:t>
            </a:r>
            <a:r>
              <a:rPr lang="es" sz="1483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DOCTYPE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483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483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483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483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" sz="1483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&gt;Mi página web&lt;/</a:t>
            </a:r>
            <a:r>
              <a:rPr lang="es" sz="1483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483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3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483">
                <a:solidFill>
                  <a:srgbClr val="75715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&lt;!-- Inserto estilos de CSS --&gt;</a:t>
            </a:r>
            <a:endParaRPr sz="1483">
              <a:solidFill>
                <a:srgbClr val="75715E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" sz="1483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link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483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rel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483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"stylesheet"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483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483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"style.css"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483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" sz="1483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483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483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483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es" sz="1483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es" sz="1467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467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s" sz="1467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467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"titulo"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&gt;Título principal&lt;/</a:t>
            </a:r>
            <a:r>
              <a:rPr lang="es" sz="1483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483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endParaRPr sz="1483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483">
                <a:solidFill>
                  <a:srgbClr val="75715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&lt;!-- Cuerpo de nuestra página Web --&gt;</a:t>
            </a:r>
            <a:endParaRPr sz="1483">
              <a:solidFill>
                <a:srgbClr val="75715E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3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483">
                <a:solidFill>
                  <a:srgbClr val="75715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&lt;!-- Inserto funcionalidad de Javascript --&gt;</a:t>
            </a:r>
            <a:endParaRPr sz="1483">
              <a:solidFill>
                <a:srgbClr val="75715E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483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" sz="1483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lang="es" sz="1483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483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src</a:t>
            </a:r>
            <a:r>
              <a:rPr lang="es" sz="1483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483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"script.js"</a:t>
            </a:r>
            <a:r>
              <a:rPr lang="es" sz="1483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&gt;&lt;/</a:t>
            </a:r>
            <a:r>
              <a:rPr lang="es" sz="1483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lang="es" sz="1483">
                <a:solidFill>
                  <a:srgbClr val="F8F8F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483">
              <a:solidFill>
                <a:srgbClr val="F8F8F2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" sz="1483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483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es" sz="1483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es" sz="1483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2133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Flask - Templates y Jinja</a:t>
            </a:r>
            <a:endParaRPr/>
          </a:p>
        </p:txBody>
      </p:sp>
      <p:sp>
        <p:nvSpPr>
          <p:cNvPr id="258" name="Google Shape;258;p3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Flask nos permite utilizar y renderizar templates (básicamente archivos HTML que sirven de base a lo que se quiera mostrar). Para esto es necesario cargar los archivos HTML necesarios a la carpeta templates dentro del proyecto, e importar la </a:t>
            </a:r>
            <a:r>
              <a:rPr lang="es" sz="1400"/>
              <a:t>función</a:t>
            </a:r>
            <a:r>
              <a:rPr lang="es" sz="1400"/>
              <a:t> </a:t>
            </a:r>
            <a:r>
              <a:rPr b="1" lang="es" sz="1400"/>
              <a:t>render_template.</a:t>
            </a:r>
            <a:r>
              <a:rPr lang="es" sz="1400"/>
              <a:t> A partir de esta función también es posible pasar datos para que se rendericen.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400"/>
              <a:t>Jinja nos permite agregar funcionalidad a estos templates, haciendo que puedan integrar data desde el template </a:t>
            </a:r>
            <a:r>
              <a:rPr lang="es" sz="1400"/>
              <a:t>dinámicamente</a:t>
            </a:r>
            <a:r>
              <a:rPr lang="es" sz="1400"/>
              <a:t>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Flask - Routing</a:t>
            </a:r>
            <a:endParaRPr/>
          </a:p>
        </p:txBody>
      </p:sp>
      <p:sp>
        <p:nvSpPr>
          <p:cNvPr id="264" name="Google Shape;264;p38"/>
          <p:cNvSpPr txBox="1"/>
          <p:nvPr>
            <p:ph idx="1" type="body"/>
          </p:nvPr>
        </p:nvSpPr>
        <p:spPr>
          <a:xfrm>
            <a:off x="311700" y="1017800"/>
            <a:ext cx="8520600" cy="10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Con Flask es sencillo definir el enrutamiento de distintas páginas por medio de decoradores de Python que definan la ruta.</a:t>
            </a:r>
            <a:endParaRPr/>
          </a:p>
        </p:txBody>
      </p:sp>
      <p:sp>
        <p:nvSpPr>
          <p:cNvPr id="265" name="Google Shape;265;p38"/>
          <p:cNvSpPr txBox="1"/>
          <p:nvPr/>
        </p:nvSpPr>
        <p:spPr>
          <a:xfrm>
            <a:off x="564000" y="2303800"/>
            <a:ext cx="3000000" cy="10707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solidFill>
                  <a:srgbClr val="DCDCAA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@</a:t>
            </a:r>
            <a:r>
              <a:rPr lang="es" sz="1550">
                <a:solidFill>
                  <a:srgbClr val="9CDCF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es" sz="1550">
                <a:solidFill>
                  <a:srgbClr val="DCDCAA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.route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550">
                <a:solidFill>
                  <a:srgbClr val="CE9178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'/'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solidFill>
                  <a:srgbClr val="569CD6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50">
                <a:solidFill>
                  <a:srgbClr val="DCDCAA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index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():</a:t>
            </a:r>
            <a:endParaRPr sz="1550">
              <a:solidFill>
                <a:srgbClr val="CCCCCC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550">
                <a:solidFill>
                  <a:srgbClr val="C586C0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155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50">
                <a:solidFill>
                  <a:srgbClr val="CE9178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"Hola mundo"</a:t>
            </a:r>
            <a:endParaRPr sz="1550">
              <a:solidFill>
                <a:srgbClr val="CE9178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4006525" y="2303800"/>
            <a:ext cx="4875000" cy="10422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DCDCAA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@</a:t>
            </a:r>
            <a:r>
              <a:rPr lang="es" sz="1500">
                <a:solidFill>
                  <a:srgbClr val="9CDCF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app</a:t>
            </a:r>
            <a:r>
              <a:rPr lang="es" sz="1500">
                <a:solidFill>
                  <a:srgbClr val="DCDCAA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.route</a:t>
            </a:r>
            <a:r>
              <a:rPr lang="es" sz="150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500">
                <a:solidFill>
                  <a:srgbClr val="CE9178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'/about'</a:t>
            </a:r>
            <a:r>
              <a:rPr lang="es" sz="150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CCCCCC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569CD6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s" sz="150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00">
                <a:solidFill>
                  <a:srgbClr val="DCDCAA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about</a:t>
            </a:r>
            <a:r>
              <a:rPr lang="es" sz="150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():</a:t>
            </a:r>
            <a:endParaRPr sz="1500">
              <a:solidFill>
                <a:srgbClr val="CCCCCC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" sz="1500">
                <a:solidFill>
                  <a:srgbClr val="C586C0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150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500">
                <a:solidFill>
                  <a:srgbClr val="DCDCAA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render_template</a:t>
            </a:r>
            <a:r>
              <a:rPr lang="es" sz="150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500">
                <a:solidFill>
                  <a:srgbClr val="CE9178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'about.html'</a:t>
            </a:r>
            <a:r>
              <a:rPr lang="es" sz="1500">
                <a:solidFill>
                  <a:srgbClr val="CCCCCC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500">
              <a:solidFill>
                <a:srgbClr val="CCCCCC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