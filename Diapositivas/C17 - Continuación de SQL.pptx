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Roboto Serif"/>
      <p:regular r:id="rId41"/>
      <p:bold r:id="rId42"/>
      <p:italic r:id="rId43"/>
      <p:boldItalic r:id="rId44"/>
    </p:embeddedFont>
    <p:embeddedFont>
      <p:font typeface="Source Code Pro SemiBold"/>
      <p:regular r:id="rId45"/>
      <p:bold r:id="rId46"/>
      <p:italic r:id="rId47"/>
      <p:boldItalic r:id="rId48"/>
    </p:embeddedFont>
    <p:embeddedFont>
      <p:font typeface="Roboto Mono"/>
      <p:regular r:id="rId49"/>
      <p:bold r:id="rId50"/>
      <p:italic r:id="rId51"/>
      <p:boldItalic r:id="rId52"/>
    </p:embeddedFont>
    <p:embeddedFont>
      <p:font typeface="Roboto Serif Medium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BB9C23-6791-4167-AA09-580F863C046C}">
  <a:tblStyle styleId="{F5BB9C23-6791-4167-AA09-580F863C046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RobotoSerif-bold.fntdata"/><Relationship Id="rId41" Type="http://schemas.openxmlformats.org/officeDocument/2006/relationships/font" Target="fonts/RobotoSerif-regular.fntdata"/><Relationship Id="rId44" Type="http://schemas.openxmlformats.org/officeDocument/2006/relationships/font" Target="fonts/RobotoSerif-boldItalic.fntdata"/><Relationship Id="rId43" Type="http://schemas.openxmlformats.org/officeDocument/2006/relationships/font" Target="fonts/RobotoSerif-italic.fntdata"/><Relationship Id="rId46" Type="http://schemas.openxmlformats.org/officeDocument/2006/relationships/font" Target="fonts/SourceCodeProSemiBold-bold.fntdata"/><Relationship Id="rId45" Type="http://schemas.openxmlformats.org/officeDocument/2006/relationships/font" Target="fonts/SourceCodePro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SourceCodeProSemiBold-boldItalic.fntdata"/><Relationship Id="rId47" Type="http://schemas.openxmlformats.org/officeDocument/2006/relationships/font" Target="fonts/SourceCodeProSemiBold-italic.fntdata"/><Relationship Id="rId49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3" Type="http://schemas.openxmlformats.org/officeDocument/2006/relationships/font" Target="fonts/RobotoSerifMedium-regular.fnt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55" Type="http://schemas.openxmlformats.org/officeDocument/2006/relationships/font" Target="fonts/RobotoSerifMedium-italic.fntdata"/><Relationship Id="rId10" Type="http://schemas.openxmlformats.org/officeDocument/2006/relationships/slide" Target="slides/slide4.xml"/><Relationship Id="rId54" Type="http://schemas.openxmlformats.org/officeDocument/2006/relationships/font" Target="fonts/RobotoSerif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RobotoSerif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02cd2423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02cd2423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02cd2423e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02cd2423e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02cd2423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02cd2423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02cd2423e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02cd2423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02cd2423e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02cd2423e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02cd2423e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02cd2423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2cd2423e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02cd2423e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ff695f2f0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ff695f2f0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ff695f2f0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ff695f2f0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02cd2423e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02cd2423e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02cd2423e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02cd2423e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02cd2423e2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02cd2423e2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02cd2423e2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02cd2423e2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daa1a574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0daa1a574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0daa1a574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0daa1a574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0daa1a574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0daa1a574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0daa1a574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0daa1a574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02cd2423e2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02cd2423e2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02cd2423e2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02cd2423e2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0daa1a574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0daa1a574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02cd2423e2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02cd2423e2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02cd2423e2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02cd2423e2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02cd2423e2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02cd2423e2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02cd2423e2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02cd2423e2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ff695f2f0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ff695f2f0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02cd2423e2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02cd2423e2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02cd2423e2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02cd2423e2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ff8cde26b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ff8cde26b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02cd2423e2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02cd2423e2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02cd2423e2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02cd2423e2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02cd2423e2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02cd2423e2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arn.microsoft.com/en-us/sql/t-sql/data-types/data-type-synonyms-transact-sql?view=sql-server-ver16" TargetMode="External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Repaso</a:t>
            </a:r>
            <a:endParaRPr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Tipos de Datos</a:t>
            </a:r>
            <a:endParaRPr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+ Instrucciones de Datos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INSERT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UPDATE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DELETE</a:t>
            </a:r>
            <a:endParaRPr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AUTO_INCREMENT</a:t>
            </a:r>
            <a:endParaRPr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clase pasada vimos…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Bases de Datos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Estructura de las Bases de Datos Relacionales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Instrucciones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s"/>
              <a:t>de Tablas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s"/>
              <a:t>de Consultas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CREATE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CREATE table table_name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column1 datatype (size),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column2 datatype (size),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…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columnN datatype(size)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DROP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DROP TABLE table_name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SELECT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SELECT column1, column2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FROM table_name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(WHERE condition)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WHERE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=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&lt;&gt;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&gt;, &lt;, &gt;=, &lt;=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not in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like (%)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Datos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Tipos de Datos en SQL</a:t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3250" y="1017800"/>
            <a:ext cx="4373925" cy="403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24"/>
          <p:cNvGraphicFramePr/>
          <p:nvPr/>
        </p:nvGraphicFramePr>
        <p:xfrm>
          <a:off x="3273100" y="289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{F5BB9C23-6791-4167-AA09-580F863C046C}</a:tableStyleId>
              </a:tblPr>
              <a:tblGrid>
                <a:gridCol w="600075"/>
                <a:gridCol w="523875"/>
                <a:gridCol w="752475"/>
                <a:gridCol w="1057275"/>
                <a:gridCol w="1152525"/>
                <a:gridCol w="1066800"/>
              </a:tblGrid>
              <a:tr h="200025">
                <a:tc grid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ALUMNOS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Padron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Apellido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FechaIngreso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FechaEgreso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103963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Carolina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Di Matteo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13/4/2018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NULL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105554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Francisco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Orquera Lorda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15/4/2019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NULL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" name="Google Shape;156;p24"/>
          <p:cNvGraphicFramePr/>
          <p:nvPr/>
        </p:nvGraphicFramePr>
        <p:xfrm>
          <a:off x="386413" y="29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{F5BB9C23-6791-4167-AA09-580F863C046C}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4"/>
          <p:cNvSpPr txBox="1"/>
          <p:nvPr/>
        </p:nvSpPr>
        <p:spPr>
          <a:xfrm>
            <a:off x="386500" y="1975725"/>
            <a:ext cx="6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int</a:t>
            </a:r>
            <a:endParaRPr b="1"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986575" y="1975725"/>
            <a:ext cx="90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varchar</a:t>
            </a:r>
            <a:endParaRPr b="1"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1896250" y="1975725"/>
            <a:ext cx="105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decimal</a:t>
            </a:r>
            <a:endParaRPr b="1"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2948650" y="1975725"/>
            <a:ext cx="13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datetime</a:t>
            </a:r>
            <a:endParaRPr b="1"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7359325" y="3735050"/>
            <a:ext cx="105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datetime (accept nulls)</a:t>
            </a:r>
            <a:endParaRPr b="1"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(más) Instrucciones de Datos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INSERT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INSERT INTO table_name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 column1, …, columnN 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VALUES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 value1, …, valueN );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grpSp>
        <p:nvGrpSpPr>
          <p:cNvPr id="173" name="Google Shape;173;p26"/>
          <p:cNvGrpSpPr/>
          <p:nvPr/>
        </p:nvGrpSpPr>
        <p:grpSpPr>
          <a:xfrm>
            <a:off x="2750950" y="1365825"/>
            <a:ext cx="2266550" cy="823325"/>
            <a:chOff x="2750950" y="1365825"/>
            <a:chExt cx="2266550" cy="823325"/>
          </a:xfrm>
        </p:grpSpPr>
        <p:sp>
          <p:nvSpPr>
            <p:cNvPr id="174" name="Google Shape;174;p26"/>
            <p:cNvSpPr txBox="1"/>
            <p:nvPr/>
          </p:nvSpPr>
          <p:spPr>
            <a:xfrm>
              <a:off x="2750950" y="1365825"/>
              <a:ext cx="1317300" cy="461700"/>
            </a:xfrm>
            <a:prstGeom prst="rect">
              <a:avLst/>
            </a:prstGeom>
            <a:solidFill>
              <a:srgbClr val="FFF2CC"/>
            </a:solidFill>
            <a:ln cap="flat" cmpd="sng" w="19050">
              <a:solidFill>
                <a:srgbClr val="7F6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opcional!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cxnSp>
          <p:nvCxnSpPr>
            <p:cNvPr id="175" name="Google Shape;175;p26"/>
            <p:cNvCxnSpPr/>
            <p:nvPr/>
          </p:nvCxnSpPr>
          <p:spPr>
            <a:xfrm>
              <a:off x="4136100" y="1888850"/>
              <a:ext cx="881400" cy="300300"/>
            </a:xfrm>
            <a:prstGeom prst="straightConnector1">
              <a:avLst/>
            </a:prstGeom>
            <a:noFill/>
            <a:ln cap="flat" cmpd="sng" w="28575">
              <a:solidFill>
                <a:srgbClr val="F1C23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UPDATE</a:t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UPDATE table_name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SET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column1 = value1,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…,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columnN = valueN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WHERE condition;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grpSp>
        <p:nvGrpSpPr>
          <p:cNvPr id="182" name="Google Shape;182;p27"/>
          <p:cNvGrpSpPr/>
          <p:nvPr/>
        </p:nvGrpSpPr>
        <p:grpSpPr>
          <a:xfrm>
            <a:off x="1725000" y="3484400"/>
            <a:ext cx="3234400" cy="738900"/>
            <a:chOff x="1725000" y="3484400"/>
            <a:chExt cx="3234400" cy="738900"/>
          </a:xfrm>
        </p:grpSpPr>
        <p:sp>
          <p:nvSpPr>
            <p:cNvPr id="183" name="Google Shape;183;p27"/>
            <p:cNvSpPr txBox="1"/>
            <p:nvPr/>
          </p:nvSpPr>
          <p:spPr>
            <a:xfrm>
              <a:off x="1725000" y="3484400"/>
              <a:ext cx="2266500" cy="738900"/>
            </a:xfrm>
            <a:prstGeom prst="rect">
              <a:avLst/>
            </a:prstGeom>
            <a:solidFill>
              <a:srgbClr val="FFF2CC"/>
            </a:solidFill>
            <a:ln cap="flat" cmpd="sng" w="19050">
              <a:solidFill>
                <a:srgbClr val="7F6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como siempre… es opcional 😉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cxnSp>
          <p:nvCxnSpPr>
            <p:cNvPr id="184" name="Google Shape;184;p27"/>
            <p:cNvCxnSpPr/>
            <p:nvPr/>
          </p:nvCxnSpPr>
          <p:spPr>
            <a:xfrm>
              <a:off x="4078000" y="4048925"/>
              <a:ext cx="881400" cy="96900"/>
            </a:xfrm>
            <a:prstGeom prst="straightConnector1">
              <a:avLst/>
            </a:prstGeom>
            <a:noFill/>
            <a:ln cap="flat" cmpd="sng" w="28575">
              <a:solidFill>
                <a:srgbClr val="F1C23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DELETE</a:t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DELETE FROM table_name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WHERE some_condition;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grpSp>
        <p:nvGrpSpPr>
          <p:cNvPr id="191" name="Google Shape;191;p28"/>
          <p:cNvGrpSpPr/>
          <p:nvPr/>
        </p:nvGrpSpPr>
        <p:grpSpPr>
          <a:xfrm>
            <a:off x="2189125" y="2973575"/>
            <a:ext cx="2712425" cy="1084100"/>
            <a:chOff x="2750950" y="743425"/>
            <a:chExt cx="2712425" cy="1084100"/>
          </a:xfrm>
        </p:grpSpPr>
        <p:sp>
          <p:nvSpPr>
            <p:cNvPr id="192" name="Google Shape;192;p28"/>
            <p:cNvSpPr txBox="1"/>
            <p:nvPr/>
          </p:nvSpPr>
          <p:spPr>
            <a:xfrm>
              <a:off x="2750950" y="1365825"/>
              <a:ext cx="1317300" cy="461700"/>
            </a:xfrm>
            <a:prstGeom prst="rect">
              <a:avLst/>
            </a:prstGeom>
            <a:solidFill>
              <a:srgbClr val="FFF2CC"/>
            </a:solidFill>
            <a:ln cap="flat" cmpd="sng" w="19050">
              <a:solidFill>
                <a:srgbClr val="7F6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opcional!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cxnSp>
          <p:nvCxnSpPr>
            <p:cNvPr id="193" name="Google Shape;193;p28"/>
            <p:cNvCxnSpPr/>
            <p:nvPr/>
          </p:nvCxnSpPr>
          <p:spPr>
            <a:xfrm flipH="1" rot="10800000">
              <a:off x="4242675" y="743425"/>
              <a:ext cx="1220700" cy="755700"/>
            </a:xfrm>
            <a:prstGeom prst="straightConnector1">
              <a:avLst/>
            </a:prstGeom>
            <a:noFill/>
            <a:ln cap="flat" cmpd="sng" w="28575">
              <a:solidFill>
                <a:srgbClr val="F1C23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DELETE FROM Productos WHERE ID = 1</a:t>
            </a:r>
            <a:endParaRPr/>
          </a:p>
        </p:txBody>
      </p:sp>
      <p:graphicFrame>
        <p:nvGraphicFramePr>
          <p:cNvPr id="199" name="Google Shape;199;p29"/>
          <p:cNvGraphicFramePr/>
          <p:nvPr/>
        </p:nvGraphicFramePr>
        <p:xfrm>
          <a:off x="311688" y="1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{F5BB9C23-6791-4167-AA09-580F863C046C}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0" name="Google Shape;200;p29"/>
          <p:cNvGraphicFramePr/>
          <p:nvPr/>
        </p:nvGraphicFramePr>
        <p:xfrm>
          <a:off x="4907988" y="298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{F5BB9C23-6791-4167-AA09-580F863C046C}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" name="Google Shape;201;p29"/>
          <p:cNvSpPr txBox="1"/>
          <p:nvPr/>
        </p:nvSpPr>
        <p:spPr>
          <a:xfrm>
            <a:off x="4760575" y="1728300"/>
            <a:ext cx="440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antes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3301350" y="3849875"/>
            <a:ext cx="586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después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311700" y="410000"/>
            <a:ext cx="8520600" cy="9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DELETE Productos WHERE ID BETWEEN 1 AND 7</a:t>
            </a:r>
            <a:endParaRPr/>
          </a:p>
        </p:txBody>
      </p:sp>
      <p:graphicFrame>
        <p:nvGraphicFramePr>
          <p:cNvPr id="208" name="Google Shape;208;p30"/>
          <p:cNvGraphicFramePr/>
          <p:nvPr/>
        </p:nvGraphicFramePr>
        <p:xfrm>
          <a:off x="311688" y="145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{F5BB9C23-6791-4167-AA09-580F863C046C}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9" name="Google Shape;209;p30"/>
          <p:cNvGraphicFramePr/>
          <p:nvPr/>
        </p:nvGraphicFramePr>
        <p:xfrm>
          <a:off x="4907988" y="298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{F5BB9C23-6791-4167-AA09-580F863C046C}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10" name="Google Shape;210;p30"/>
          <p:cNvSpPr txBox="1"/>
          <p:nvPr/>
        </p:nvSpPr>
        <p:spPr>
          <a:xfrm>
            <a:off x="4760575" y="1728300"/>
            <a:ext cx="9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antes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3301350" y="3849875"/>
            <a:ext cx="11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después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TRUNCATE TABLE Productos</a:t>
            </a:r>
            <a:endParaRPr/>
          </a:p>
        </p:txBody>
      </p:sp>
      <p:graphicFrame>
        <p:nvGraphicFramePr>
          <p:cNvPr id="217" name="Google Shape;217;p31"/>
          <p:cNvGraphicFramePr/>
          <p:nvPr/>
        </p:nvGraphicFramePr>
        <p:xfrm>
          <a:off x="311688" y="1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{F5BB9C23-6791-4167-AA09-580F863C046C}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8" name="Google Shape;218;p31"/>
          <p:cNvGraphicFramePr/>
          <p:nvPr/>
        </p:nvGraphicFramePr>
        <p:xfrm>
          <a:off x="4907988" y="298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{F5BB9C23-6791-4167-AA09-580F863C046C}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31"/>
          <p:cNvSpPr txBox="1"/>
          <p:nvPr/>
        </p:nvSpPr>
        <p:spPr>
          <a:xfrm>
            <a:off x="4760575" y="1728300"/>
            <a:ext cx="9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antes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3301350" y="3849875"/>
            <a:ext cx="11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después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DROP TABLE Productos</a:t>
            </a:r>
            <a:endParaRPr/>
          </a:p>
        </p:txBody>
      </p:sp>
      <p:graphicFrame>
        <p:nvGraphicFramePr>
          <p:cNvPr id="226" name="Google Shape;226;p32"/>
          <p:cNvGraphicFramePr/>
          <p:nvPr/>
        </p:nvGraphicFramePr>
        <p:xfrm>
          <a:off x="311688" y="1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{F5BB9C23-6791-4167-AA09-580F863C046C}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32"/>
          <p:cNvSpPr txBox="1"/>
          <p:nvPr/>
        </p:nvSpPr>
        <p:spPr>
          <a:xfrm>
            <a:off x="4760575" y="1728300"/>
            <a:ext cx="9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antes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3301350" y="3849875"/>
            <a:ext cx="11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después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4884775" y="2587275"/>
            <a:ext cx="4119000" cy="240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490250" y="526350"/>
            <a:ext cx="7626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Incrementación Automática…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AUTO_INCREMENT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es?</a:t>
            </a:r>
            <a:endParaRPr/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</a:t>
            </a:r>
            <a:r>
              <a:rPr lang="es"/>
              <a:t>tributo que se puede aplicar a una columna numérica</a:t>
            </a:r>
            <a:r>
              <a:rPr lang="es"/>
              <a:t> (generalmente una clave primaria) </a:t>
            </a:r>
            <a:r>
              <a:rPr lang="es"/>
              <a:t>en una tabla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u="sng"/>
              <a:t>Cuando se establece esta propiedad</a:t>
            </a:r>
            <a:r>
              <a:rPr lang="es"/>
              <a:t>, </a:t>
            </a:r>
            <a:r>
              <a:rPr b="1" lang="es"/>
              <a:t>MySQL automáticamente asigna valores secuenciales a esa columna para cada nueva fila insertada</a:t>
            </a:r>
            <a:endParaRPr b="1"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 es necesario especificar explícitamente un valor para esta columna al insertar un nuevo registro → MySQL se encargará de asignar automáticamente el siguiente número disponible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Google Shape;245;p35"/>
          <p:cNvGraphicFramePr/>
          <p:nvPr/>
        </p:nvGraphicFramePr>
        <p:xfrm>
          <a:off x="386413" y="29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{F5BB9C23-6791-4167-AA09-580F863C046C}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Calabaza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$345,50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/2/23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Zanahoria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$865,50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12/2/24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35"/>
          <p:cNvSpPr txBox="1"/>
          <p:nvPr/>
        </p:nvSpPr>
        <p:spPr>
          <a:xfrm>
            <a:off x="4572000" y="299325"/>
            <a:ext cx="4688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INSERT INTO</a:t>
            </a:r>
            <a:endParaRPr b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 productos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 (producto, precio, fechaModificacion)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VALUES</a:t>
            </a:r>
            <a:endParaRPr b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 ("Calabaza", 345.50, "2023-12-02"),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 ("Zanahoria", 865.50, "2024-12-02")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;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resumen…</a:t>
            </a:r>
            <a:endParaRPr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>
                <a:highlight>
                  <a:srgbClr val="FFF2CC"/>
                </a:highlight>
              </a:rPr>
              <a:t>Cada valor asignado por AUTO_INCREMENT es único dentro de esa columna</a:t>
            </a:r>
            <a:endParaRPr b="1">
              <a:highlight>
                <a:srgbClr val="FFF2CC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valores </a:t>
            </a:r>
            <a:r>
              <a:rPr b="1" lang="es">
                <a:highlight>
                  <a:srgbClr val="FFF2CC"/>
                </a:highlight>
              </a:rPr>
              <a:t>se generan en orden secuencial (1, 2, 3, ...)</a:t>
            </a:r>
            <a:endParaRPr b="1">
              <a:highlight>
                <a:srgbClr val="FFF2CC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usa </a:t>
            </a:r>
            <a:r>
              <a:rPr lang="es" u="sng"/>
              <a:t>comúnmente</a:t>
            </a:r>
            <a:r>
              <a:rPr lang="es"/>
              <a:t> en </a:t>
            </a:r>
            <a:r>
              <a:rPr lang="es" u="sng"/>
              <a:t>columnas que actúan como claves primarias</a:t>
            </a:r>
            <a:r>
              <a:rPr lang="es"/>
              <a:t> para </a:t>
            </a:r>
            <a:r>
              <a:rPr lang="es" u="sng"/>
              <a:t>garantizar la unicidad y facilidad de referencia</a:t>
            </a:r>
            <a:endParaRPr u="sng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asignamos este atributo?</a:t>
            </a:r>
            <a:endParaRPr/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CREATE TABLE productos (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ID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 INT </a:t>
            </a:r>
            <a:r>
              <a:rPr lang="es">
                <a:highlight>
                  <a:srgbClr val="CFE2F3"/>
                </a:highlight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NOT NULL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 </a:t>
            </a:r>
            <a:r>
              <a:rPr lang="es">
                <a:highlight>
                  <a:srgbClr val="FFF2CC"/>
                </a:highlight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AUTO_INCREMENT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producto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 VARCHAR(50) </a:t>
            </a:r>
            <a:r>
              <a:rPr lang="es">
                <a:highlight>
                  <a:srgbClr val="CFE2F3"/>
                </a:highlight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NOT NULL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precio DECIMAL(6, 2) </a:t>
            </a:r>
            <a:r>
              <a:rPr lang="es">
                <a:highlight>
                  <a:srgbClr val="CFE2F3"/>
                </a:highlight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NOT NULL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lo utilizamos?</a:t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INSERT INTO productos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(producto, precio)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VALUES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(‘yerba’, 9000);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6073400" y="3157775"/>
            <a:ext cx="1482000" cy="4617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¿qué pasó?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Claves Primarias…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P</a:t>
            </a:r>
            <a:r>
              <a:rPr lang="es"/>
              <a:t>rimary </a:t>
            </a:r>
            <a:r>
              <a:rPr lang="es" u="sng"/>
              <a:t>K</a:t>
            </a:r>
            <a:r>
              <a:rPr lang="es"/>
              <a:t>eys</a:t>
            </a:r>
            <a:endParaRPr/>
          </a:p>
        </p:txBody>
      </p:sp>
      <p:grpSp>
        <p:nvGrpSpPr>
          <p:cNvPr id="271" name="Google Shape;271;p39"/>
          <p:cNvGrpSpPr/>
          <p:nvPr/>
        </p:nvGrpSpPr>
        <p:grpSpPr>
          <a:xfrm>
            <a:off x="6257375" y="2925325"/>
            <a:ext cx="2382900" cy="1500300"/>
            <a:chOff x="6257375" y="2925325"/>
            <a:chExt cx="2382900" cy="1500300"/>
          </a:xfrm>
        </p:grpSpPr>
        <p:sp>
          <p:nvSpPr>
            <p:cNvPr id="272" name="Google Shape;272;p39"/>
            <p:cNvSpPr/>
            <p:nvPr/>
          </p:nvSpPr>
          <p:spPr>
            <a:xfrm>
              <a:off x="6470525" y="2925325"/>
              <a:ext cx="1956600" cy="1500300"/>
            </a:xfrm>
            <a:prstGeom prst="cloudCallout">
              <a:avLst>
                <a:gd fmla="val -20833" name="adj1"/>
                <a:gd fmla="val 62500" name="adj2"/>
              </a:avLst>
            </a:prstGeom>
            <a:noFill/>
            <a:ln cap="flat" cmpd="sng" w="28575">
              <a:solidFill>
                <a:srgbClr val="479FDE"/>
              </a:solidFill>
              <a:prstDash val="lgDash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273" name="Google Shape;273;p39"/>
            <p:cNvSpPr txBox="1"/>
            <p:nvPr/>
          </p:nvSpPr>
          <p:spPr>
            <a:xfrm>
              <a:off x="6257375" y="3109375"/>
              <a:ext cx="23829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073763"/>
                  </a:solidFill>
                  <a:latin typeface="Roboto Serif Medium"/>
                  <a:ea typeface="Roboto Serif Medium"/>
                  <a:cs typeface="Roboto Serif Medium"/>
                  <a:sym typeface="Roboto Serif Medium"/>
                </a:rPr>
                <a:t>(ampliemos un poco lo que vimos la clase pasada)</a:t>
              </a:r>
              <a:endParaRPr sz="1800">
                <a:solidFill>
                  <a:srgbClr val="073763"/>
                </a:solidFill>
                <a:latin typeface="Roboto Serif Medium"/>
                <a:ea typeface="Roboto Serif Medium"/>
                <a:cs typeface="Roboto Serif Medium"/>
                <a:sym typeface="Roboto Serif Medium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>
                <a:highlight>
                  <a:srgbClr val="FFF2CC"/>
                </a:highlight>
              </a:rPr>
              <a:t>C</a:t>
            </a:r>
            <a:r>
              <a:rPr b="1" lang="es">
                <a:highlight>
                  <a:srgbClr val="FFF2CC"/>
                </a:highlight>
              </a:rPr>
              <a:t>ampo (o conjunto de campos) en una tabla que identifica de manera única cada fila en esa tabla</a:t>
            </a:r>
            <a:endParaRPr b="1">
              <a:highlight>
                <a:srgbClr val="FFF2CC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Concepto fundamental para </a:t>
            </a:r>
            <a:r>
              <a:rPr lang="es" u="sng"/>
              <a:t>garantizar la integridad de los datos y facilitar las relaciones entre tablas</a:t>
            </a:r>
            <a:endParaRPr u="sng"/>
          </a:p>
        </p:txBody>
      </p:sp>
      <p:sp>
        <p:nvSpPr>
          <p:cNvPr id="279" name="Google Shape;279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Cada valor en la clave primaria debe ser </a:t>
            </a:r>
            <a:r>
              <a:rPr b="1" lang="es"/>
              <a:t>único</a:t>
            </a:r>
            <a:r>
              <a:rPr lang="es"/>
              <a:t> dentro de la tabla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valores de la clave primaria </a:t>
            </a:r>
            <a:r>
              <a:rPr b="1" lang="es"/>
              <a:t>no pueden ser nulos</a:t>
            </a:r>
            <a:r>
              <a:rPr lang="es"/>
              <a:t> (NULL) porque deben identificar de manera única cada fila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Generalmente tiene asociado un índice que </a:t>
            </a:r>
            <a:r>
              <a:rPr lang="es" u="sng"/>
              <a:t>mejora el rendimiento en búsquedas y consultas</a:t>
            </a:r>
            <a:endParaRPr/>
          </a:p>
        </p:txBody>
      </p:sp>
      <p:sp>
        <p:nvSpPr>
          <p:cNvPr id="285" name="Google Shape;285;p4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Características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identificamos una PK?</a:t>
            </a:r>
            <a:endParaRPr/>
          </a:p>
        </p:txBody>
      </p:sp>
      <p:sp>
        <p:nvSpPr>
          <p:cNvPr id="291" name="Google Shape;291;p4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CREATE TABLE productos (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ID INT NOT NULL AUTO_INCREMENT </a:t>
            </a:r>
            <a:r>
              <a:rPr lang="es">
                <a:highlight>
                  <a:srgbClr val="FFF2CC"/>
                </a:highlight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PRIMARY KEY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producto VARCHAR(50) NOT NULL,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precio DECIMAL(6, 2) NOT NULL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sp>
        <p:nvSpPr>
          <p:cNvPr id="292" name="Google Shape;292;p42"/>
          <p:cNvSpPr/>
          <p:nvPr/>
        </p:nvSpPr>
        <p:spPr>
          <a:xfrm>
            <a:off x="3458050" y="1724175"/>
            <a:ext cx="2034300" cy="494100"/>
          </a:xfrm>
          <a:prstGeom prst="rect">
            <a:avLst/>
          </a:prstGeom>
          <a:noFill/>
          <a:ln cap="flat" cmpd="sng" w="28575">
            <a:solidFill>
              <a:srgbClr val="479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293" name="Google Shape;293;p42"/>
          <p:cNvCxnSpPr/>
          <p:nvPr/>
        </p:nvCxnSpPr>
        <p:spPr>
          <a:xfrm>
            <a:off x="5627825" y="2373175"/>
            <a:ext cx="1549800" cy="978300"/>
          </a:xfrm>
          <a:prstGeom prst="straightConnector1">
            <a:avLst/>
          </a:prstGeom>
          <a:noFill/>
          <a:ln cap="flat" cmpd="sng" w="28575">
            <a:solidFill>
              <a:srgbClr val="003E6A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4" name="Google Shape;294;p42"/>
          <p:cNvSpPr txBox="1"/>
          <p:nvPr/>
        </p:nvSpPr>
        <p:spPr>
          <a:xfrm>
            <a:off x="6867700" y="3177175"/>
            <a:ext cx="168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no es obligatorio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  <p:sp>
        <p:nvSpPr>
          <p:cNvPr id="300" name="Google Shape;300;p43"/>
          <p:cNvSpPr txBox="1"/>
          <p:nvPr/>
        </p:nvSpPr>
        <p:spPr>
          <a:xfrm>
            <a:off x="5598775" y="3506500"/>
            <a:ext cx="233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vamos a ayudar al almacenero…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Productos (Creación)</a:t>
            </a:r>
            <a:endParaRPr/>
          </a:p>
        </p:txBody>
      </p:sp>
      <p:sp>
        <p:nvSpPr>
          <p:cNvPr id="306" name="Google Shape;306;p44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una tabla de productos que contenga la siguiente información: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ID del producto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debe ser clave primaria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debe ser autoincremental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nombre del producto</a:t>
            </a:r>
            <a:endParaRPr/>
          </a:p>
        </p:txBody>
      </p:sp>
      <p:sp>
        <p:nvSpPr>
          <p:cNvPr id="307" name="Google Shape;307;p44"/>
          <p:cNvSpPr txBox="1"/>
          <p:nvPr/>
        </p:nvSpPr>
        <p:spPr>
          <a:xfrm>
            <a:off x="4572000" y="3758325"/>
            <a:ext cx="406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ACLARACIÓN: si ya existía una tabla de productos, borrarla con DROP.</a:t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08" name="Google Shape;308;p44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precio del producto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fecha de creación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fecha de modificación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acepta nulos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Productos (Inserción)</a:t>
            </a:r>
            <a:endParaRPr/>
          </a:p>
        </p:txBody>
      </p:sp>
      <p:sp>
        <p:nvSpPr>
          <p:cNvPr id="314" name="Google Shape;314;p4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Insertar en la tabla de productos los siguientes datos:</a:t>
            </a:r>
            <a:endParaRPr/>
          </a:p>
        </p:txBody>
      </p:sp>
      <p:graphicFrame>
        <p:nvGraphicFramePr>
          <p:cNvPr id="315" name="Google Shape;315;p45"/>
          <p:cNvGraphicFramePr/>
          <p:nvPr/>
        </p:nvGraphicFramePr>
        <p:xfrm>
          <a:off x="3094488" y="1932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{F5BB9C23-6791-4167-AA09-580F863C046C}</a:tableStyleId>
              </a:tblPr>
              <a:tblGrid>
                <a:gridCol w="1362750"/>
                <a:gridCol w="1592250"/>
              </a:tblGrid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Productos (Eliminado de Datos)</a:t>
            </a:r>
            <a:endParaRPr/>
          </a:p>
        </p:txBody>
      </p:sp>
      <p:sp>
        <p:nvSpPr>
          <p:cNvPr id="321" name="Google Shape;321;p4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Eliminar todas las frutas de la tabla. Usar Where + in (‘...’)</a:t>
            </a:r>
            <a:endParaRPr/>
          </a:p>
        </p:txBody>
      </p:sp>
      <p:cxnSp>
        <p:nvCxnSpPr>
          <p:cNvPr id="322" name="Google Shape;322;p46"/>
          <p:cNvCxnSpPr>
            <a:endCxn id="323" idx="0"/>
          </p:cNvCxnSpPr>
          <p:nvPr/>
        </p:nvCxnSpPr>
        <p:spPr>
          <a:xfrm flipH="1">
            <a:off x="6020200" y="1462575"/>
            <a:ext cx="682800" cy="833100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3" name="Google Shape;323;p46"/>
          <p:cNvSpPr txBox="1"/>
          <p:nvPr/>
        </p:nvSpPr>
        <p:spPr>
          <a:xfrm>
            <a:off x="4833550" y="2295675"/>
            <a:ext cx="237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¿qué puede ir ahí?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