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Serif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erif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rif-boldItalic.fntdata"/><Relationship Id="rId30" Type="http://schemas.openxmlformats.org/officeDocument/2006/relationships/font" Target="fonts/RobotoSerif-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bold.fntdata"/><Relationship Id="rId10" Type="http://schemas.openxmlformats.org/officeDocument/2006/relationships/slide" Target="slides/slide5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7c51180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c7c51180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7c511803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7c511803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7c511803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7c511803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7c511803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c7c511803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7c511803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c7c511803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7c51180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c7c51180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7c511803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c7c511803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7c511803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c7c511803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7c511803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7c511803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7c511803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c7c511803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c7c511803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c7c511803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c7c511803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c7c511803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c7c511803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c7c511803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511803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511803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52f8b00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52f8b00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google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HTML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CSS</a:t>
            </a:r>
            <a:endParaRPr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Ejemplo práctico con Flask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9250" y="2517750"/>
            <a:ext cx="2279050" cy="22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HTML? ¿Para qué se usa?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284450"/>
            <a:ext cx="8520600" cy="22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595">
                <a:solidFill>
                  <a:srgbClr val="434343"/>
                </a:solidFill>
              </a:rPr>
              <a:t>HTML </a:t>
            </a:r>
            <a:r>
              <a:rPr i="1" lang="es" sz="2595">
                <a:solidFill>
                  <a:srgbClr val="434343"/>
                </a:solidFill>
              </a:rPr>
              <a:t>(HyperText Markup Language) </a:t>
            </a:r>
            <a:r>
              <a:rPr lang="es" sz="2595">
                <a:solidFill>
                  <a:srgbClr val="434343"/>
                </a:solidFill>
              </a:rPr>
              <a:t>es un </a:t>
            </a:r>
            <a:r>
              <a:rPr b="1" lang="es" sz="2595">
                <a:solidFill>
                  <a:srgbClr val="434343"/>
                </a:solidFill>
              </a:rPr>
              <a:t>lenguaje de marcado </a:t>
            </a:r>
            <a:r>
              <a:rPr lang="es" sz="2595">
                <a:solidFill>
                  <a:srgbClr val="434343"/>
                </a:solidFill>
              </a:rPr>
              <a:t>que define la estructura del contenido de una página Web. Este lenguaje consiste en una serie de elementos que usarás para encerrar diferentes partes del contenido para que se vean o comporten de una determinada manera.</a:t>
            </a:r>
            <a:br>
              <a:rPr lang="es" sz="1400">
                <a:solidFill>
                  <a:srgbClr val="434343"/>
                </a:solidFill>
              </a:rPr>
            </a:b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311700" y="3433725"/>
            <a:ext cx="7922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3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Importante:</a:t>
            </a:r>
            <a:r>
              <a:rPr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HTML no es un lenguaje de programación</a:t>
            </a:r>
            <a:r>
              <a:rPr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 Es un lenguaje de marcado. Sirve para indicar una estructura de elementos, no para crear algoritmos.</a:t>
            </a:r>
            <a:endParaRPr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1516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básica de HTML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363300" y="759450"/>
            <a:ext cx="6156300" cy="3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E898EC"/>
                </a:highlight>
                <a:latin typeface="Roboto Mono"/>
                <a:ea typeface="Roboto Mono"/>
                <a:cs typeface="Roboto Mono"/>
                <a:sym typeface="Roboto Mono"/>
              </a:rPr>
              <a:t>&lt;!DOCTYPE html&gt;</a:t>
            </a:r>
            <a:endParaRPr b="1" sz="2000">
              <a:highlight>
                <a:srgbClr val="E898EC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1F1F1F"/>
                </a:solidFill>
                <a:highlight>
                  <a:srgbClr val="5FCBEF"/>
                </a:highlight>
                <a:latin typeface="Roboto Mono"/>
                <a:ea typeface="Roboto Mono"/>
                <a:cs typeface="Roboto Mono"/>
                <a:sym typeface="Roboto Mono"/>
              </a:rPr>
              <a:t>&lt;html&gt;</a:t>
            </a:r>
            <a:endParaRPr b="1" sz="2000">
              <a:highlight>
                <a:srgbClr val="5FCBE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endParaRPr b="1" sz="2000"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    &lt;title&gt;Mi página web&lt;/title&gt;</a:t>
            </a:r>
            <a:endParaRPr b="1" sz="2000"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&lt;/head&gt;</a:t>
            </a:r>
            <a:endParaRPr b="1" sz="2000"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A6E22E"/>
                </a:highlight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endParaRPr b="1" sz="2000">
              <a:highlight>
                <a:srgbClr val="A6E22E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A6E22E"/>
                </a:highlight>
                <a:latin typeface="Roboto Mono"/>
                <a:ea typeface="Roboto Mono"/>
                <a:cs typeface="Roboto Mono"/>
                <a:sym typeface="Roboto Mono"/>
              </a:rPr>
              <a:t>    &lt;h1&gt;Hola mundo!&lt;/h1&gt;</a:t>
            </a:r>
            <a:endParaRPr b="1" sz="2000">
              <a:highlight>
                <a:srgbClr val="A6E22E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A6E22E"/>
                </a:highlight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endParaRPr b="1" sz="2000">
              <a:highlight>
                <a:srgbClr val="A6E22E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5FCBEF"/>
                </a:highlight>
                <a:latin typeface="Roboto Mono"/>
                <a:ea typeface="Roboto Mono"/>
                <a:cs typeface="Roboto Mono"/>
                <a:sym typeface="Roboto Mono"/>
              </a:rPr>
              <a:t>&lt;/html&gt;</a:t>
            </a:r>
            <a:endParaRPr b="1" sz="1800">
              <a:highlight>
                <a:srgbClr val="5FCBEF"/>
              </a:highlight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3424291" y="826074"/>
            <a:ext cx="52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Declaración de tipo de documento HTML</a:t>
            </a:r>
            <a:endParaRPr b="1"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493375" y="3871900"/>
            <a:ext cx="292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79FDE"/>
                </a:solidFill>
                <a:latin typeface="Roboto Serif"/>
                <a:ea typeface="Roboto Serif"/>
                <a:cs typeface="Roboto Serif"/>
                <a:sym typeface="Roboto Serif"/>
              </a:rPr>
              <a:t>Fin documento HTML</a:t>
            </a:r>
            <a:endParaRPr b="1" sz="1800">
              <a:solidFill>
                <a:srgbClr val="479FDE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5827300" y="3075603"/>
            <a:ext cx="279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A84F"/>
                </a:solidFill>
                <a:latin typeface="Roboto Serif"/>
                <a:ea typeface="Roboto Serif"/>
                <a:cs typeface="Roboto Serif"/>
                <a:sym typeface="Roboto Serif"/>
              </a:rPr>
              <a:t>Cuerpo o contenido de la página</a:t>
            </a:r>
            <a:endParaRPr b="1" sz="1800">
              <a:solidFill>
                <a:srgbClr val="6AA84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5759956" y="1919434"/>
            <a:ext cx="292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1C232"/>
                </a:solidFill>
                <a:latin typeface="Roboto Serif"/>
                <a:ea typeface="Roboto Serif"/>
                <a:cs typeface="Roboto Serif"/>
                <a:sym typeface="Roboto Serif"/>
              </a:rPr>
              <a:t>Cabecera de la página</a:t>
            </a:r>
            <a:endParaRPr b="1" sz="1800">
              <a:solidFill>
                <a:srgbClr val="F1C23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3424291" y="1269135"/>
            <a:ext cx="31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79FDE"/>
                </a:solidFill>
                <a:latin typeface="Roboto Serif"/>
                <a:ea typeface="Roboto Serif"/>
                <a:cs typeface="Roboto Serif"/>
                <a:sym typeface="Roboto Serif"/>
              </a:rPr>
              <a:t>Inicio documento HTML</a:t>
            </a:r>
            <a:endParaRPr b="1" sz="1800">
              <a:solidFill>
                <a:srgbClr val="479FDE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Etiquetas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2397950" y="1685000"/>
            <a:ext cx="4321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5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 Hola mundo! </a:t>
            </a:r>
            <a:r>
              <a:rPr b="1" lang="es" sz="235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&lt;/h1&gt;</a:t>
            </a:r>
            <a:endParaRPr b="1" sz="2350">
              <a:solidFill>
                <a:srgbClr val="FF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35" name="Google Shape;135;p19"/>
          <p:cNvCxnSpPr>
            <a:stCxn id="136" idx="0"/>
          </p:cNvCxnSpPr>
          <p:nvPr/>
        </p:nvCxnSpPr>
        <p:spPr>
          <a:xfrm flipH="1" rot="10800000">
            <a:off x="1376250" y="2159400"/>
            <a:ext cx="1515000" cy="7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19"/>
          <p:cNvSpPr txBox="1"/>
          <p:nvPr/>
        </p:nvSpPr>
        <p:spPr>
          <a:xfrm>
            <a:off x="589500" y="2887500"/>
            <a:ext cx="157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Etiqueta de 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apertura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37" name="Google Shape;137;p19"/>
          <p:cNvCxnSpPr>
            <a:stCxn id="138" idx="0"/>
          </p:cNvCxnSpPr>
          <p:nvPr/>
        </p:nvCxnSpPr>
        <p:spPr>
          <a:xfrm rot="10800000">
            <a:off x="6061850" y="2147700"/>
            <a:ext cx="1972800" cy="73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9"/>
          <p:cNvSpPr txBox="1"/>
          <p:nvPr/>
        </p:nvSpPr>
        <p:spPr>
          <a:xfrm>
            <a:off x="7247900" y="2887500"/>
            <a:ext cx="157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Etiqueta de 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cierre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39" name="Google Shape;139;p19"/>
          <p:cNvCxnSpPr>
            <a:stCxn id="140" idx="0"/>
          </p:cNvCxnSpPr>
          <p:nvPr/>
        </p:nvCxnSpPr>
        <p:spPr>
          <a:xfrm rot="10800000">
            <a:off x="4397502" y="2159375"/>
            <a:ext cx="440100" cy="96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9"/>
          <p:cNvSpPr txBox="1"/>
          <p:nvPr/>
        </p:nvSpPr>
        <p:spPr>
          <a:xfrm>
            <a:off x="3989052" y="3122375"/>
            <a:ext cx="16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Contenido del elemento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3725050" y="1017800"/>
            <a:ext cx="178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Elemento: </a:t>
            </a:r>
            <a:r>
              <a:rPr b="1" i="1"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h1</a:t>
            </a:r>
            <a:endParaRPr b="1" i="1"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311700" y="2103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Etiquetas básicas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311700" y="935600"/>
            <a:ext cx="8662500" cy="37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&lt;html&gt;, &lt;head&gt;, &lt;body&gt;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la estructura básica de la página Web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&lt;h1&gt;, &lt;h2&gt;, …, &lt;h6&gt;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títulos dentro del contenido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&lt;div&gt;</a:t>
            </a: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dividir el contenido en partes con significado distinto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&lt;p&gt;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párrafos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&lt;img&gt;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añadir imágenes al documento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&lt;a&gt;</a:t>
            </a: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enlaces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&lt;br&gt;</a:t>
            </a: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realizar saltos de línea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&lt;span&gt;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estilizar una parte del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texto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&lt;form&gt;, </a:t>
            </a: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&lt;input&gt;, &lt;button&gt;, &lt;label&gt;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formularios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Atributos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311700" y="2288600"/>
            <a:ext cx="85206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50"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&lt;a </a:t>
            </a:r>
            <a:r>
              <a:rPr b="1" lang="es" sz="2350">
                <a:solidFill>
                  <a:srgbClr val="FF00F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1" lang="es" sz="2350">
                <a:solidFill>
                  <a:srgbClr val="FF00F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=”</a:t>
            </a:r>
            <a:r>
              <a:rPr b="1" lang="es" sz="2350">
                <a:solidFill>
                  <a:srgbClr val="FF00FF"/>
                </a:solidFill>
                <a:highlight>
                  <a:schemeClr val="lt1"/>
                </a:highlight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http://google.com/</a:t>
            </a:r>
            <a:r>
              <a:rPr b="1" lang="es" sz="2350">
                <a:solidFill>
                  <a:srgbClr val="FF00F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b="1" lang="es" sz="2350"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Ir a Google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&lt;/a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23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1000500" y="3549075"/>
            <a:ext cx="151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Atributo o propiedad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5" name="Google Shape;155;p21"/>
          <p:cNvCxnSpPr>
            <a:stCxn id="154" idx="0"/>
          </p:cNvCxnSpPr>
          <p:nvPr/>
        </p:nvCxnSpPr>
        <p:spPr>
          <a:xfrm rot="10800000">
            <a:off x="1364400" y="2811375"/>
            <a:ext cx="3936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1"/>
          <p:cNvCxnSpPr/>
          <p:nvPr/>
        </p:nvCxnSpPr>
        <p:spPr>
          <a:xfrm rot="10800000">
            <a:off x="3384325" y="2787750"/>
            <a:ext cx="1045200" cy="8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1"/>
          <p:cNvSpPr txBox="1"/>
          <p:nvPr/>
        </p:nvSpPr>
        <p:spPr>
          <a:xfrm>
            <a:off x="4429525" y="3549075"/>
            <a:ext cx="83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Valor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311700" y="1245650"/>
            <a:ext cx="85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Los atributos permiten modificar </a:t>
            </a: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propiedades de un elemento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HTML. Siempre se escriben dentro de la etiqueta de apertura.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393925" y="1543100"/>
            <a:ext cx="2344500" cy="17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 una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página Web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básica</a:t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2959200" y="0"/>
            <a:ext cx="6184800" cy="52104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lang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"es"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&gt;Pala Store&lt;/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"titulo"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&gt;Pala Store: PCs a tu medida&lt;/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div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"productos"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"titulo"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&gt;Nuestros productos&lt;/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"lista-componentes"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&gt;Procesador Ryzen 9 7950x3d&lt;/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&gt;Placa de video Nvidia RTX 4090 24gb&lt;/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&gt;Motherboard Gigabyte X670E Aorus Master&lt;/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"boton-ver-mas"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&gt;Ver más&lt;/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footer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&gt;Mail de contacto: pala_store_clientes@example.com&lt;/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&gt;Pala Store 2024&lt;/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footer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</a:t>
            </a:r>
            <a:endParaRPr/>
          </a:p>
        </p:txBody>
      </p:sp>
      <p:pic>
        <p:nvPicPr>
          <p:cNvPr id="170" name="Google Shape;17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1125" y="2501275"/>
            <a:ext cx="1458751" cy="233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CSS? ¿Para qué se usa?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311700" y="1308175"/>
            <a:ext cx="8520600" cy="16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700"/>
              <a:t>CSS </a:t>
            </a:r>
            <a:r>
              <a:rPr i="1" lang="es" sz="1700"/>
              <a:t>(Cascading Style Sheets) </a:t>
            </a:r>
            <a:r>
              <a:rPr lang="es" sz="1700"/>
              <a:t>u </a:t>
            </a:r>
            <a:r>
              <a:rPr i="1" lang="es" sz="1700"/>
              <a:t>Hojas de estilo en cascada </a:t>
            </a:r>
            <a:r>
              <a:rPr lang="es" sz="1700"/>
              <a:t>es un </a:t>
            </a:r>
            <a:r>
              <a:rPr b="1" lang="es" sz="1700"/>
              <a:t>lenguaje de hojas de estilo</a:t>
            </a:r>
            <a:r>
              <a:rPr lang="es" sz="1700"/>
              <a:t>, es decir, te permite aplicar estilos de manera selectiva a elementos en documentos HTML.</a:t>
            </a:r>
            <a:endParaRPr sz="1600"/>
          </a:p>
        </p:txBody>
      </p:sp>
      <p:sp>
        <p:nvSpPr>
          <p:cNvPr id="177" name="Google Shape;177;p24"/>
          <p:cNvSpPr txBox="1"/>
          <p:nvPr/>
        </p:nvSpPr>
        <p:spPr>
          <a:xfrm>
            <a:off x="311700" y="3057925"/>
            <a:ext cx="838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Importante:</a:t>
            </a: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CSS no es un lenguaje de programación. Tampoco de marcado.</a:t>
            </a: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Es un lenguaje de hojas de estilo. Sirve para dar estilo a elementos que ya fueron previamente indicados y ubicados en una estructura. Otros ejemplos de lenguajes de estilo son XSL y Sass.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</a:t>
            </a:r>
            <a:r>
              <a:rPr lang="es"/>
              <a:t>structura básica </a:t>
            </a:r>
            <a:r>
              <a:rPr lang="es"/>
              <a:t>de CSS</a:t>
            </a:r>
            <a:endParaRPr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2730775" y="2021425"/>
            <a:ext cx="3871200" cy="14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highlight>
                  <a:srgbClr val="E898EC"/>
                </a:highlight>
                <a:latin typeface="Roboto Mono"/>
                <a:ea typeface="Roboto Mono"/>
                <a:cs typeface="Roboto Mono"/>
                <a:sym typeface="Roboto Mono"/>
              </a:rPr>
              <a:t>selector</a:t>
            </a:r>
            <a:r>
              <a:rPr b="1" lang="es" sz="23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1" sz="23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highlight>
                  <a:srgbClr val="A6E22E"/>
                </a:highlight>
                <a:latin typeface="Roboto Mono"/>
                <a:ea typeface="Roboto Mono"/>
                <a:cs typeface="Roboto Mono"/>
                <a:sym typeface="Roboto Mono"/>
              </a:rPr>
              <a:t>atributo</a:t>
            </a:r>
            <a:r>
              <a:rPr b="1" lang="es" sz="23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" sz="2300">
                <a:highlight>
                  <a:srgbClr val="E6DB74"/>
                </a:highlight>
                <a:latin typeface="Roboto Mono"/>
                <a:ea typeface="Roboto Mono"/>
                <a:cs typeface="Roboto Mono"/>
                <a:sym typeface="Roboto Mono"/>
              </a:rPr>
              <a:t>valor</a:t>
            </a:r>
            <a:r>
              <a:rPr b="1" lang="es" sz="23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1" sz="2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1" sz="23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331150" y="1261225"/>
            <a:ext cx="192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9900FF"/>
                </a:solidFill>
                <a:latin typeface="Roboto Serif"/>
                <a:ea typeface="Roboto Serif"/>
                <a:cs typeface="Roboto Serif"/>
                <a:sym typeface="Roboto Serif"/>
              </a:rPr>
              <a:t>Elemento/s a los cuales les quiero aplicar el estilo</a:t>
            </a:r>
            <a:endParaRPr sz="1800">
              <a:solidFill>
                <a:srgbClr val="99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5" name="Google Shape;185;p25"/>
          <p:cNvCxnSpPr>
            <a:stCxn id="184" idx="3"/>
          </p:cNvCxnSpPr>
          <p:nvPr/>
        </p:nvCxnSpPr>
        <p:spPr>
          <a:xfrm>
            <a:off x="2257150" y="1907725"/>
            <a:ext cx="469500" cy="1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5"/>
          <p:cNvSpPr txBox="1"/>
          <p:nvPr/>
        </p:nvSpPr>
        <p:spPr>
          <a:xfrm>
            <a:off x="2985100" y="3609875"/>
            <a:ext cx="2841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6AA84F"/>
                </a:solidFill>
                <a:latin typeface="Roboto Serif"/>
                <a:ea typeface="Roboto Serif"/>
                <a:cs typeface="Roboto Serif"/>
                <a:sym typeface="Roboto Serif"/>
              </a:rPr>
              <a:t>Característica visible o propiedad </a:t>
            </a:r>
            <a:endParaRPr sz="1800">
              <a:solidFill>
                <a:srgbClr val="6AA84F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6AA84F"/>
                </a:solidFill>
                <a:latin typeface="Roboto Serif"/>
                <a:ea typeface="Roboto Serif"/>
                <a:cs typeface="Roboto Serif"/>
                <a:sym typeface="Roboto Serif"/>
              </a:rPr>
              <a:t>que quiero modificar</a:t>
            </a:r>
            <a:endParaRPr sz="1800">
              <a:solidFill>
                <a:srgbClr val="6AA84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7" name="Google Shape;187;p25"/>
          <p:cNvCxnSpPr>
            <a:stCxn id="186" idx="0"/>
          </p:cNvCxnSpPr>
          <p:nvPr/>
        </p:nvCxnSpPr>
        <p:spPr>
          <a:xfrm rot="10800000">
            <a:off x="4241650" y="2987375"/>
            <a:ext cx="164400" cy="62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5"/>
          <p:cNvSpPr txBox="1"/>
          <p:nvPr/>
        </p:nvSpPr>
        <p:spPr>
          <a:xfrm>
            <a:off x="6676550" y="1214250"/>
            <a:ext cx="208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1C232"/>
                </a:solidFill>
                <a:latin typeface="Roboto Serif"/>
                <a:ea typeface="Roboto Serif"/>
                <a:cs typeface="Roboto Serif"/>
                <a:sym typeface="Roboto Serif"/>
              </a:rPr>
              <a:t>Magnitud, cantidad o tipo del estilo que quiero aplicar</a:t>
            </a:r>
            <a:endParaRPr sz="1800">
              <a:solidFill>
                <a:srgbClr val="F1C23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9" name="Google Shape;189;p25"/>
          <p:cNvCxnSpPr>
            <a:stCxn id="188" idx="1"/>
          </p:cNvCxnSpPr>
          <p:nvPr/>
        </p:nvCxnSpPr>
        <p:spPr>
          <a:xfrm flipH="1">
            <a:off x="5826950" y="1860750"/>
            <a:ext cx="8496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Selectores</a:t>
            </a:r>
            <a:endParaRPr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311700" y="1017800"/>
            <a:ext cx="85206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selectores nos indican con base en qué criterio CSS selecciona qué elementos de nuestra página va a tomar para aplicarle un conjunto de atributos. En otras palabras: </a:t>
            </a:r>
            <a:r>
              <a:rPr b="1" lang="es"/>
              <a:t>¿a qué cosas le cambio el estilo?</a:t>
            </a:r>
            <a:endParaRPr/>
          </a:p>
        </p:txBody>
      </p:sp>
      <p:sp>
        <p:nvSpPr>
          <p:cNvPr id="196" name="Google Shape;196;p26"/>
          <p:cNvSpPr txBox="1"/>
          <p:nvPr/>
        </p:nvSpPr>
        <p:spPr>
          <a:xfrm>
            <a:off x="311700" y="2130200"/>
            <a:ext cx="69243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Tipos de selectores: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ID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clase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.)</a:t>
            </a:r>
            <a:endParaRPr sz="16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etiqueta o tipo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(ej. 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atributo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[attr=value]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pseudo-clase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universal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Atributos</a:t>
            </a:r>
            <a:endParaRPr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311700" y="1111750"/>
            <a:ext cx="8520600" cy="11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atributos CSS se refieren a la </a:t>
            </a:r>
            <a:r>
              <a:rPr b="1" lang="es"/>
              <a:t>característica visible o estructural</a:t>
            </a:r>
            <a:r>
              <a:rPr lang="es"/>
              <a:t> que queremos modificar de un elemento. Por ejemplo: el color del texto o la forma de mostrar un botón con respecto al resto de la página.</a:t>
            </a:r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401625" y="2341500"/>
            <a:ext cx="85959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Algunos atributos básicos son:</a:t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 Serif"/>
              <a:buChar char="●"/>
            </a:pPr>
            <a:r>
              <a:rPr lang="es" sz="17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Textos:</a:t>
            </a:r>
            <a:r>
              <a:rPr lang="es" sz="17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font-family, font-size, font-style, color</a:t>
            </a:r>
            <a:endParaRPr sz="17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 Serif"/>
              <a:buChar char="●"/>
            </a:pPr>
            <a:r>
              <a:rPr lang="es" sz="17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Elementos:</a:t>
            </a:r>
            <a:r>
              <a:rPr lang="es" sz="17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display, padding, margin, border-radius, width, height, opacity, flex</a:t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683450" y="1909400"/>
            <a:ext cx="3675600" cy="16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Ejemplo básico de CSS</a:t>
            </a:r>
            <a:endParaRPr/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4653000" y="43200"/>
            <a:ext cx="3098700" cy="50571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font-family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Cambria;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#323232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.titulo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margin-bottom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1.5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em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violet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#productos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footer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list-style-type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margin-bottom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vh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#boton-ver-mas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16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border-radius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75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margin-top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vh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footer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margin-top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border-top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gray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solid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gray</a:t>
            </a:r>
            <a:endParaRPr sz="750">
              <a:solidFill>
                <a:srgbClr val="66D9EF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:hover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cursor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pointer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#productos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rgb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245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64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121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9267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Insertando CSS a una página Web</a:t>
            </a:r>
            <a:endParaRPr/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311700" y="1305300"/>
            <a:ext cx="8668500" cy="32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E</a:t>
            </a:r>
            <a:r>
              <a:rPr lang="es" sz="1700"/>
              <a:t>xisten 3 formas de insertar </a:t>
            </a:r>
            <a:r>
              <a:rPr lang="es" sz="1700"/>
              <a:t>código</a:t>
            </a:r>
            <a:r>
              <a:rPr lang="es" sz="1700"/>
              <a:t> CSS a una página Web: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s" sz="1700"/>
              <a:t>Inline: </a:t>
            </a:r>
            <a:r>
              <a:rPr lang="es" sz="1700"/>
              <a:t>inserto el estilo directamente como atributo del elemento HTML. </a:t>
            </a:r>
            <a:endParaRPr b="1" sz="17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b="1" lang="es" sz="1700"/>
              <a:t>Dentro del HTML: </a:t>
            </a:r>
            <a:r>
              <a:rPr lang="es" sz="1700"/>
              <a:t>etiqueta</a:t>
            </a: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700">
                <a:latin typeface="Roboto Mono"/>
                <a:ea typeface="Roboto Mono"/>
                <a:cs typeface="Roboto Mono"/>
                <a:sym typeface="Roboto Mono"/>
              </a:rPr>
              <a:t>&lt;style&gt;</a:t>
            </a: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700"/>
              <a:t>dentro de la cabecera del documento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●"/>
            </a:pPr>
            <a:r>
              <a:rPr b="1" lang="es" sz="1700"/>
              <a:t>Desde un archivo CSS: </a:t>
            </a:r>
            <a:r>
              <a:rPr lang="es" sz="1700"/>
              <a:t>l</a:t>
            </a:r>
            <a:r>
              <a:rPr lang="es" sz="1700"/>
              <a:t>o enlazamos dentro de la cabecera del documento HTML.</a:t>
            </a: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Insertando CSS a una página Web</a:t>
            </a:r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311700" y="1422900"/>
            <a:ext cx="4414500" cy="3849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3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0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"color: red;"</a:t>
            </a: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&gt;Hola mundo!&lt;/</a:t>
            </a:r>
            <a:r>
              <a:rPr lang="es" sz="13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5441700" y="1274400"/>
            <a:ext cx="3187500" cy="35013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&gt;Mi página Web&lt;/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i="1" lang="es" sz="120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120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&gt;Hola mundo!&lt;/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731700" y="2124900"/>
            <a:ext cx="4306500" cy="2537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&gt;Mi página Web&lt;/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link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20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"stylesheet"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20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"style.css"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&gt;Hola mundo!&lt;/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490250" y="526350"/>
            <a:ext cx="6088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con Flask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400"/>
              <a:t>(en vivo)</a:t>
            </a:r>
            <a:endParaRPr i="1" sz="3400"/>
          </a:p>
        </p:txBody>
      </p:sp>
      <p:pic>
        <p:nvPicPr>
          <p:cNvPr id="229" name="Google Shape;2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275" y="3342625"/>
            <a:ext cx="1539425" cy="15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9225" y="3444425"/>
            <a:ext cx="1437624" cy="143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2975" y="251275"/>
            <a:ext cx="10465675" cy="427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375" y="2630425"/>
            <a:ext cx="4759899" cy="1810176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32"/>
          <p:cNvSpPr txBox="1"/>
          <p:nvPr/>
        </p:nvSpPr>
        <p:spPr>
          <a:xfrm>
            <a:off x="1411500" y="3598075"/>
            <a:ext cx="363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cargar imagenes desde css en Flask</a:t>
            </a:r>
            <a:endParaRPr sz="15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5991350" y="1801400"/>
            <a:ext cx="321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cargar css desde html en Flask</a:t>
            </a:r>
            <a:endParaRPr sz="15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Pala Store</a:t>
            </a:r>
            <a:endParaRPr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311700" y="1503900"/>
            <a:ext cx="8520600" cy="28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Tomar el ejemplo de esta PPT de “Pala Store” y agregarle imágenes a los productos. Las imágenes tienen que tener un tamaño de 150 píxeles x 150 píxeles.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Mostrar la página usando Flask.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Pueden usar tanto el HTML como el CSS de ejemplo.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