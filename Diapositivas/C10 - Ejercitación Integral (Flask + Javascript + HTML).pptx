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Roboto Serif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Serif-bold.fntdata"/><Relationship Id="rId27" Type="http://schemas.openxmlformats.org/officeDocument/2006/relationships/font" Target="fonts/RobotoSerif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Serif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RobotoSerif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f1f08e7f1e_0_3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f1f08e7f1e_0_3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f1f08e7f1e_0_3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f1f08e7f1e_0_3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f1f0f19ad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f1f0f19ad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f1f08e7f1e_0_3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f1f08e7f1e_0_3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f568a28f6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f568a28f6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f1f0e37d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f1f0e37d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f568a28f6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1f568a28f6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f568a28f6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1f568a28f6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f568a28f62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1f568a28f62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f568a28f62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f568a28f62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f568a28f62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f568a28f62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f571d8b26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f571d8b2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f571d8b26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1f571d8b26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f571d8b26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1f571d8b26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f571d8b26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1f571d8b26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f571d8b265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1f571d8b26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f571d8b265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1f571d8b26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f571d8b26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1f571d8b26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f571d8b26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1f571d8b26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f1f0e37db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1f1f0e37db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f1f0e37db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1f1f0e37db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Final" type="title">
  <p:cSld name="TITLE">
    <p:bg>
      <p:bgPr>
        <a:solidFill>
          <a:srgbClr val="479FDE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54263"/>
            <a:ext cx="9144003" cy="3460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">
  <p:cSld name="TITLE_1">
    <p:bg>
      <p:bgPr>
        <a:solidFill>
          <a:srgbClr val="479FDE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4" name="Google Shape;14;p3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5" name="Google Shape;15;p3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6" name="Google Shape;16;p3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7" name="Google Shape;17;p3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8" name="Google Shape;18;p3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>
  <p:cSld name="TITLE_1_1">
    <p:bg>
      <p:bgPr>
        <a:solidFill>
          <a:srgbClr val="479FDE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4" name="Google Shape;24;p4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5" name="Google Shape;25;p4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6" name="Google Shape;26;p4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7" name="Google Shape;27;p4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8" name="Google Shape;28;p4"/>
          <p:cNvSpPr txBox="1"/>
          <p:nvPr>
            <p:ph type="ctrTitle"/>
          </p:nvPr>
        </p:nvSpPr>
        <p:spPr>
          <a:xfrm>
            <a:off x="460950" y="1455827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0" name="Google Shape;3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5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3" name="Google Shape;33;p5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4" name="Google Shape;34;p5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1" name="Google Shape;4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383974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3117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46818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pic>
        <p:nvPicPr>
          <p:cNvPr id="47" name="Google Shape;4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1" name="Google Shape;51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2400"/>
              <a:buFont typeface="Roboto Serif"/>
              <a:buNone/>
              <a:defRPr sz="24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048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048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048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048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048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048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048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048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7" name="Google Shape;5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A4DCE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9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60" name="Google Shape;60;p9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1" name="Google Shape;61;p9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003E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2" name="Google Shape;62;p9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3" name="Google Shape;63;p9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4" name="Google Shape;64;p9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65" name="Google Shape;65;p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3E6A"/>
              </a:buClr>
              <a:buSzPts val="4800"/>
              <a:buFont typeface="Roboto Serif"/>
              <a:buNone/>
              <a:defRPr sz="4800">
                <a:solidFill>
                  <a:srgbClr val="003E6A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67" name="Google Shape;6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SECTION_TITLE_AND_DESCRIP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" name="Google Shape;70;p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10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4200"/>
              <a:buFont typeface="Roboto Serif"/>
              <a:buNone/>
              <a:defRPr sz="42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925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 Serif"/>
              <a:buChar char="●"/>
              <a:defRPr sz="19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2385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2385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2385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2385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2385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2385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2385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2385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4" name="Google Shape;7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70775" y="-1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rgbClr val="5FCBE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1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81" name="Google Shape;81;p1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2" name="Google Shape;82;p1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3" name="Google Shape;83;p1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4" name="Google Shape;84;p1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5" name="Google Shape;85;p1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86" name="Google Shape;86;p12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r>
              <a:t>xx%</a:t>
            </a:r>
          </a:p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89" name="Google Shape;8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92" name="Google Shape;9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erif"/>
              <a:buChar char="●"/>
              <a:defRPr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developer.chrome.com/docs/devtools/dom?hl=es-419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 al Desarrollo de Software I - Lanzillotta</a:t>
            </a:r>
            <a:endParaRPr/>
          </a:p>
        </p:txBody>
      </p:sp>
      <p:sp>
        <p:nvSpPr>
          <p:cNvPr id="102" name="Google Shape;102;p15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Capra - Chaves - Di Matteo - Sosa - Villegas - Palavecino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0000"/>
          </a:bodyPr>
          <a:lstStyle/>
          <a:p>
            <a:pPr indent="-3130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Organizar un proyecto Flask (repaso)</a:t>
            </a:r>
            <a:endParaRPr/>
          </a:p>
          <a:p>
            <a:pPr indent="-3130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Modificación de urls</a:t>
            </a:r>
            <a:endParaRPr/>
          </a:p>
          <a:p>
            <a:pPr indent="-3130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Reutilización de código con block</a:t>
            </a:r>
            <a:endParaRPr/>
          </a:p>
          <a:p>
            <a:pPr indent="-3130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Creación de un formulario GET-POST</a:t>
            </a:r>
            <a:endParaRPr/>
          </a:p>
          <a:p>
            <a:pPr indent="-3130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Enviar un listado y utilizarlo en el template</a:t>
            </a:r>
            <a:endParaRPr/>
          </a:p>
          <a:p>
            <a:pPr indent="-3130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Error handler</a:t>
            </a:r>
            <a:endParaRPr/>
          </a:p>
          <a:p>
            <a:pPr indent="-3130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Uso del Inspector en los navegadores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Organizar un proyecto en flask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Del diseño a la realidad</a:t>
            </a:r>
            <a:endParaRPr/>
          </a:p>
        </p:txBody>
      </p:sp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Todo proyecto web comienza con un relevamiento de requerimientos con los usuarios del futuro sistema.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Posteriormente se puede solicitar a un diseñador gráfico o a especialista en diseño que haga realidad el diseño del sitio web.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Muchas veces se puede acceder ya sea en forma gratuita o comprándolo a un template en HTML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Nosotros como programadores </a:t>
            </a:r>
            <a:r>
              <a:rPr lang="es"/>
              <a:t>podemos</a:t>
            </a:r>
            <a:r>
              <a:rPr lang="es"/>
              <a:t> importar el diseño a nuestro proyecto.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Repaso de la estructura de archivos</a:t>
            </a:r>
            <a:endParaRPr/>
          </a:p>
        </p:txBody>
      </p:sp>
      <p:sp>
        <p:nvSpPr>
          <p:cNvPr id="125" name="Google Shape;125;p19"/>
          <p:cNvSpPr txBox="1"/>
          <p:nvPr/>
        </p:nvSpPr>
        <p:spPr>
          <a:xfrm>
            <a:off x="387900" y="1124900"/>
            <a:ext cx="2196600" cy="31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434343"/>
                </a:solidFill>
                <a:latin typeface="Roboto Serif"/>
                <a:ea typeface="Roboto Serif"/>
                <a:cs typeface="Roboto Serif"/>
                <a:sym typeface="Roboto Serif"/>
              </a:rPr>
              <a:t>/mi_proyecto</a:t>
            </a:r>
            <a:endParaRPr b="1" sz="1800">
              <a:solidFill>
                <a:srgbClr val="434343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434343"/>
                </a:solidFill>
                <a:latin typeface="Roboto Serif"/>
                <a:ea typeface="Roboto Serif"/>
                <a:cs typeface="Roboto Serif"/>
                <a:sym typeface="Roboto Serif"/>
              </a:rPr>
              <a:t>    app.py</a:t>
            </a:r>
            <a:endParaRPr b="1" sz="1800">
              <a:solidFill>
                <a:srgbClr val="434343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434343"/>
                </a:solidFill>
                <a:latin typeface="Roboto Serif"/>
                <a:ea typeface="Roboto Serif"/>
                <a:cs typeface="Roboto Serif"/>
                <a:sym typeface="Roboto Serif"/>
              </a:rPr>
              <a:t>   /.venv</a:t>
            </a:r>
            <a:endParaRPr b="1" sz="1800">
              <a:solidFill>
                <a:srgbClr val="434343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434343"/>
                </a:solidFill>
                <a:latin typeface="Roboto Serif"/>
                <a:ea typeface="Roboto Serif"/>
                <a:cs typeface="Roboto Serif"/>
                <a:sym typeface="Roboto Serif"/>
              </a:rPr>
              <a:t>    /static</a:t>
            </a:r>
            <a:endParaRPr b="1" sz="1800">
              <a:solidFill>
                <a:srgbClr val="434343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434343"/>
                </a:solidFill>
                <a:latin typeface="Roboto Serif"/>
                <a:ea typeface="Roboto Serif"/>
                <a:cs typeface="Roboto Serif"/>
                <a:sym typeface="Roboto Serif"/>
              </a:rPr>
              <a:t>        style.css</a:t>
            </a:r>
            <a:endParaRPr b="1" sz="1800">
              <a:solidFill>
                <a:srgbClr val="434343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434343"/>
                </a:solidFill>
                <a:latin typeface="Roboto Serif"/>
                <a:ea typeface="Roboto Serif"/>
                <a:cs typeface="Roboto Serif"/>
                <a:sym typeface="Roboto Serif"/>
              </a:rPr>
              <a:t>    /templates</a:t>
            </a:r>
            <a:endParaRPr b="1" sz="1800">
              <a:solidFill>
                <a:srgbClr val="434343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434343"/>
                </a:solidFill>
                <a:latin typeface="Roboto Serif"/>
                <a:ea typeface="Roboto Serif"/>
                <a:cs typeface="Roboto Serif"/>
                <a:sym typeface="Roboto Serif"/>
              </a:rPr>
              <a:t>        layout.html</a:t>
            </a:r>
            <a:endParaRPr b="1" sz="1800">
              <a:solidFill>
                <a:srgbClr val="434343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434343"/>
                </a:solidFill>
                <a:latin typeface="Roboto Serif"/>
                <a:ea typeface="Roboto Serif"/>
                <a:cs typeface="Roboto Serif"/>
                <a:sym typeface="Roboto Serif"/>
              </a:rPr>
              <a:t>        index.html</a:t>
            </a:r>
            <a:endParaRPr b="1" sz="1800">
              <a:solidFill>
                <a:srgbClr val="434343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434343"/>
                </a:solidFill>
                <a:latin typeface="Roboto Serif"/>
                <a:ea typeface="Roboto Serif"/>
                <a:cs typeface="Roboto Serif"/>
                <a:sym typeface="Roboto Serif"/>
              </a:rPr>
              <a:t>        login.html</a:t>
            </a:r>
            <a:endParaRPr b="1" sz="1800">
              <a:solidFill>
                <a:srgbClr val="434343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800">
                <a:solidFill>
                  <a:srgbClr val="434343"/>
                </a:solidFill>
                <a:latin typeface="Roboto Serif"/>
                <a:ea typeface="Roboto Serif"/>
                <a:cs typeface="Roboto Serif"/>
                <a:sym typeface="Roboto Serif"/>
              </a:rPr>
              <a:t>        ...</a:t>
            </a:r>
            <a:endParaRPr b="1" sz="1800">
              <a:solidFill>
                <a:srgbClr val="434343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126" name="Google Shape;126;p19"/>
          <p:cNvCxnSpPr/>
          <p:nvPr/>
        </p:nvCxnSpPr>
        <p:spPr>
          <a:xfrm flipH="1" rot="10800000">
            <a:off x="1775425" y="1994800"/>
            <a:ext cx="2060400" cy="7173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" name="Google Shape;127;p19"/>
          <p:cNvSpPr txBox="1"/>
          <p:nvPr/>
        </p:nvSpPr>
        <p:spPr>
          <a:xfrm>
            <a:off x="3820625" y="1369000"/>
            <a:ext cx="4716300" cy="1205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434343"/>
                </a:solidFill>
                <a:latin typeface="Roboto Serif"/>
                <a:ea typeface="Roboto Serif"/>
                <a:cs typeface="Roboto Serif"/>
                <a:sym typeface="Roboto Serif"/>
              </a:rPr>
              <a:t>Jinja</a:t>
            </a:r>
            <a:r>
              <a:rPr lang="es" sz="1600">
                <a:solidFill>
                  <a:srgbClr val="434343"/>
                </a:solidFill>
                <a:latin typeface="Roboto Serif"/>
                <a:ea typeface="Roboto Serif"/>
                <a:cs typeface="Roboto Serif"/>
                <a:sym typeface="Roboto Serif"/>
              </a:rPr>
              <a:t> nos permite agregar funcionalidad a estos templates, haciendo que puedan integrar data desde el template dinámicamente.</a:t>
            </a:r>
            <a:endParaRPr sz="1600">
              <a:solidFill>
                <a:srgbClr val="434343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Creación de rutas</a:t>
            </a:r>
            <a:endParaRPr/>
          </a:p>
        </p:txBody>
      </p:sp>
      <p:sp>
        <p:nvSpPr>
          <p:cNvPr id="133" name="Google Shape;133;p20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Dentro del archivo app.py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925" y="1555150"/>
            <a:ext cx="5075949" cy="252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Modificación de las url :: Links</a:t>
            </a:r>
            <a:endParaRPr/>
          </a:p>
        </p:txBody>
      </p:sp>
      <p:sp>
        <p:nvSpPr>
          <p:cNvPr id="140" name="Google Shape;140;p21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Toda referencia a links dentro del sitio o cualquier redirección se  deberá crear mediante: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url_for('user', name='john', _external=True)</a:t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1"/>
          <p:cNvSpPr txBox="1"/>
          <p:nvPr/>
        </p:nvSpPr>
        <p:spPr>
          <a:xfrm>
            <a:off x="4900800" y="2528725"/>
            <a:ext cx="4243200" cy="854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equivale a:</a:t>
            </a:r>
            <a:endParaRPr b="1" sz="15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5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http://localhost:5000/user/john</a:t>
            </a:r>
            <a:endParaRPr b="1" sz="15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142" name="Google Shape;142;p21"/>
          <p:cNvCxnSpPr>
            <a:endCxn id="141" idx="1"/>
          </p:cNvCxnSpPr>
          <p:nvPr/>
        </p:nvCxnSpPr>
        <p:spPr>
          <a:xfrm>
            <a:off x="2706600" y="2528575"/>
            <a:ext cx="2194200" cy="42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" name="Google Shape;143;p21"/>
          <p:cNvSpPr txBox="1"/>
          <p:nvPr/>
        </p:nvSpPr>
        <p:spPr>
          <a:xfrm>
            <a:off x="433800" y="3566325"/>
            <a:ext cx="5432100" cy="854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 sz="1500">
                <a:solidFill>
                  <a:schemeClr val="accent4"/>
                </a:solidFill>
                <a:latin typeface="Roboto Serif"/>
                <a:ea typeface="Roboto Serif"/>
                <a:cs typeface="Roboto Serif"/>
                <a:sym typeface="Roboto Serif"/>
              </a:rPr>
              <a:t>_external=True</a:t>
            </a:r>
            <a:br>
              <a:rPr b="1" lang="es" sz="15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r>
              <a:rPr b="1" lang="es" sz="15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Crea la dirección absoluta, ideal cuando necesitamos enviar un link por mail por ejemplo</a:t>
            </a:r>
            <a:r>
              <a:rPr b="1" lang="es" sz="15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.</a:t>
            </a:r>
            <a:endParaRPr b="1" sz="15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Modificación de las url :: archivos estáticos</a:t>
            </a:r>
            <a:endParaRPr/>
          </a:p>
        </p:txBody>
      </p:sp>
      <p:sp>
        <p:nvSpPr>
          <p:cNvPr id="149" name="Google Shape;149;p22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Toda referencia a recursos estáticos como ser archivos javascript, imágenes, CSS, etc  se  deberá crear mediante: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url_for('static', filename='css/styles.css', _external=True) </a:t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2"/>
          <p:cNvSpPr txBox="1"/>
          <p:nvPr/>
        </p:nvSpPr>
        <p:spPr>
          <a:xfrm>
            <a:off x="4767025" y="2528725"/>
            <a:ext cx="4377000" cy="854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equivale a:</a:t>
            </a:r>
            <a:endParaRPr b="1" sz="15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http://localhost:5000/static/css/styles.css</a:t>
            </a:r>
            <a:endParaRPr b="1" sz="11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151" name="Google Shape;151;p22"/>
          <p:cNvCxnSpPr>
            <a:endCxn id="150" idx="1"/>
          </p:cNvCxnSpPr>
          <p:nvPr/>
        </p:nvCxnSpPr>
        <p:spPr>
          <a:xfrm>
            <a:off x="2572825" y="2528575"/>
            <a:ext cx="2194200" cy="42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2" name="Google Shape;152;p22"/>
          <p:cNvSpPr txBox="1"/>
          <p:nvPr/>
        </p:nvSpPr>
        <p:spPr>
          <a:xfrm>
            <a:off x="433800" y="3566325"/>
            <a:ext cx="5889900" cy="854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 sz="15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El primer parámetro</a:t>
            </a:r>
            <a:r>
              <a:rPr b="1" lang="es" sz="1500">
                <a:solidFill>
                  <a:schemeClr val="accent4"/>
                </a:solidFill>
                <a:latin typeface="Roboto Serif"/>
                <a:ea typeface="Roboto Serif"/>
                <a:cs typeface="Roboto Serif"/>
                <a:sym typeface="Roboto Serif"/>
              </a:rPr>
              <a:t> static</a:t>
            </a:r>
            <a:br>
              <a:rPr b="1" lang="es" sz="15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r>
              <a:rPr b="1" lang="es" sz="15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Hará referencia a la carpeta static y luego filename, informará la carpeta y el archivo </a:t>
            </a:r>
            <a:r>
              <a:rPr b="1" lang="es" sz="15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particular</a:t>
            </a:r>
            <a:r>
              <a:rPr b="1" lang="es" sz="15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 a acceder.</a:t>
            </a:r>
            <a:endParaRPr b="1" sz="15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Block :: Reutilización de código HTML</a:t>
            </a:r>
            <a:endParaRPr/>
          </a:p>
        </p:txBody>
      </p:sp>
      <p:sp>
        <p:nvSpPr>
          <p:cNvPr id="158" name="Google Shape;158;p23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Todo sitio web posee partes de código HTML (header, footer, scripts) que se repiten en cada una de las páginas.</a:t>
            </a:r>
            <a:br>
              <a:rPr lang="es"/>
            </a:br>
            <a:r>
              <a:rPr lang="es"/>
              <a:t>Para esto se puede utilizar los bloques </a:t>
            </a:r>
            <a:r>
              <a:rPr b="1" lang="es"/>
              <a:t>{% block header %} {% endblock %}</a:t>
            </a:r>
            <a:endParaRPr b="1"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Para la utilización de los bloques es necesario crear un archivo base.html, ubicarlo dentro de la carpeta template.</a:t>
            </a:r>
            <a:br>
              <a:rPr lang="es"/>
            </a:br>
            <a:r>
              <a:rPr lang="es"/>
              <a:t>Este archivo tendrá todo lo que consideremos como código que se pueda repetir, y dentro de este se colocarán los bloques para ser editables a posteriori.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Creación de un formulario</a:t>
            </a:r>
            <a:endParaRPr/>
          </a:p>
        </p:txBody>
      </p:sp>
      <p:sp>
        <p:nvSpPr>
          <p:cNvPr id="164" name="Google Shape;164;p24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Los formularios dentro de un sitio web son fundamentales para poder interactuar con el usuario.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Si bien Flask posee una dependencia que agiliza y permite crear formularios más robustos y seguros, en la materia vamos a utilizar los métodos tradicionales de etiquetas &lt;form&gt; y métodos POST para enviar la información.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Definición de un form en HTML</a:t>
            </a:r>
            <a:endParaRPr/>
          </a:p>
        </p:txBody>
      </p:sp>
      <p:sp>
        <p:nvSpPr>
          <p:cNvPr id="170" name="Google Shape;170;p25"/>
          <p:cNvSpPr txBox="1"/>
          <p:nvPr>
            <p:ph idx="1" type="body"/>
          </p:nvPr>
        </p:nvSpPr>
        <p:spPr>
          <a:xfrm>
            <a:off x="44905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Supongamos que queremos crear un formulario de Login</a:t>
            </a:r>
            <a:endParaRPr/>
          </a:p>
        </p:txBody>
      </p:sp>
      <p:pic>
        <p:nvPicPr>
          <p:cNvPr id="171" name="Google Shape;17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375" y="2131675"/>
            <a:ext cx="7148324" cy="1755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25"/>
          <p:cNvCxnSpPr>
            <a:endCxn id="173" idx="1"/>
          </p:cNvCxnSpPr>
          <p:nvPr/>
        </p:nvCxnSpPr>
        <p:spPr>
          <a:xfrm flipH="1" rot="10800000">
            <a:off x="2195275" y="1765475"/>
            <a:ext cx="1533900" cy="366300"/>
          </a:xfrm>
          <a:prstGeom prst="straightConnector1">
            <a:avLst/>
          </a:prstGeom>
          <a:noFill/>
          <a:ln cap="flat" cmpd="sng" w="9525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3" name="Google Shape;173;p25"/>
          <p:cNvSpPr txBox="1"/>
          <p:nvPr/>
        </p:nvSpPr>
        <p:spPr>
          <a:xfrm>
            <a:off x="3729175" y="1399175"/>
            <a:ext cx="5240400" cy="732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0000"/>
                </a:solidFill>
                <a:latin typeface="Roboto Serif"/>
                <a:ea typeface="Roboto Serif"/>
                <a:cs typeface="Roboto Serif"/>
                <a:sym typeface="Roboto Serif"/>
              </a:rPr>
              <a:t>action</a:t>
            </a: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 =&gt; indicará el </a:t>
            </a:r>
            <a:r>
              <a:rPr i="1"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form-handler</a:t>
            </a: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, en general es el script del lado del servidor</a:t>
            </a:r>
            <a:endParaRPr sz="16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174" name="Google Shape;174;p25"/>
          <p:cNvCxnSpPr/>
          <p:nvPr/>
        </p:nvCxnSpPr>
        <p:spPr>
          <a:xfrm>
            <a:off x="2721825" y="3657950"/>
            <a:ext cx="427500" cy="610500"/>
          </a:xfrm>
          <a:prstGeom prst="straightConnector1">
            <a:avLst/>
          </a:prstGeom>
          <a:noFill/>
          <a:ln cap="flat" cmpd="sng" w="9525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5" name="Google Shape;175;p25"/>
          <p:cNvSpPr txBox="1"/>
          <p:nvPr/>
        </p:nvSpPr>
        <p:spPr>
          <a:xfrm>
            <a:off x="3128600" y="4156950"/>
            <a:ext cx="5240400" cy="839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0000"/>
                </a:solidFill>
                <a:latin typeface="Roboto Serif"/>
                <a:ea typeface="Roboto Serif"/>
                <a:cs typeface="Roboto Serif"/>
                <a:sym typeface="Roboto Serif"/>
              </a:rPr>
              <a:t>button submit </a:t>
            </a: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=&gt; Define el botón que enviará la información al form-handler del lado del servidor.</a:t>
            </a:r>
            <a:endParaRPr sz="16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76" name="Google Shape;176;p25"/>
          <p:cNvSpPr txBox="1"/>
          <p:nvPr/>
        </p:nvSpPr>
        <p:spPr>
          <a:xfrm>
            <a:off x="7719500" y="2131625"/>
            <a:ext cx="1424400" cy="17553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Utilización de ids para identificar los campos</a:t>
            </a:r>
            <a:endParaRPr sz="15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77" name="Google Shape;177;p25"/>
          <p:cNvSpPr/>
          <p:nvPr/>
        </p:nvSpPr>
        <p:spPr>
          <a:xfrm>
            <a:off x="7464500" y="2169875"/>
            <a:ext cx="244200" cy="16788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Definición de form-handler (lado servidor)</a:t>
            </a:r>
            <a:endParaRPr/>
          </a:p>
        </p:txBody>
      </p:sp>
      <p:pic>
        <p:nvPicPr>
          <p:cNvPr id="183" name="Google Shape;18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801749"/>
            <a:ext cx="7710249" cy="208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6"/>
          <p:cNvSpPr txBox="1"/>
          <p:nvPr/>
        </p:nvSpPr>
        <p:spPr>
          <a:xfrm>
            <a:off x="600325" y="941200"/>
            <a:ext cx="7626300" cy="708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Debemos definir el tipo de método que recibirá la ruta, en este caso GET(por defecto) + POST (para el envío de la información)</a:t>
            </a:r>
            <a:endParaRPr sz="17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185" name="Google Shape;185;p26"/>
          <p:cNvCxnSpPr/>
          <p:nvPr/>
        </p:nvCxnSpPr>
        <p:spPr>
          <a:xfrm rot="10800000">
            <a:off x="4721100" y="1597425"/>
            <a:ext cx="1526400" cy="396900"/>
          </a:xfrm>
          <a:prstGeom prst="straightConnector1">
            <a:avLst/>
          </a:prstGeom>
          <a:noFill/>
          <a:ln cap="flat" cmpd="sng" w="9525">
            <a:solidFill>
              <a:srgbClr val="F1C23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6" name="Google Shape;186;p26"/>
          <p:cNvSpPr txBox="1"/>
          <p:nvPr/>
        </p:nvSpPr>
        <p:spPr>
          <a:xfrm>
            <a:off x="1668700" y="3889050"/>
            <a:ext cx="6792000" cy="969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Si recibimos información con el método POST, entonces redirigimos a un sitio de respuesta, sino volvemos a mostrar el form</a:t>
            </a:r>
            <a:endParaRPr sz="17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187" name="Google Shape;187;p26"/>
          <p:cNvCxnSpPr/>
          <p:nvPr/>
        </p:nvCxnSpPr>
        <p:spPr>
          <a:xfrm>
            <a:off x="2904975" y="2894800"/>
            <a:ext cx="0" cy="1221000"/>
          </a:xfrm>
          <a:prstGeom prst="straightConnector1">
            <a:avLst/>
          </a:prstGeom>
          <a:noFill/>
          <a:ln cap="flat" cmpd="sng" w="9525">
            <a:solidFill>
              <a:srgbClr val="FFD96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</a:t>
            </a:r>
            <a:endParaRPr/>
          </a:p>
        </p:txBody>
      </p:sp>
      <p:sp>
        <p:nvSpPr>
          <p:cNvPr id="193" name="Google Shape;193;p2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Crear un ejemplo que utilice en formulario de contacto del sitio del bar Brooklyn y en caso de contestar ser exitoso, abrir una nueva página con el mensaje:</a:t>
            </a:r>
            <a:br>
              <a:rPr lang="es"/>
            </a:br>
            <a:r>
              <a:rPr lang="es"/>
              <a:t>“Su mensaje de contacto ha sido enviado exitosamente”.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Uso de ciclos</a:t>
            </a:r>
            <a:endParaRPr/>
          </a:p>
        </p:txBody>
      </p:sp>
      <p:sp>
        <p:nvSpPr>
          <p:cNvPr id="199" name="Google Shape;199;p28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Como hemos visto en clases anteriores, podemos utilizar un ciclo for </a:t>
            </a:r>
            <a:r>
              <a:rPr lang="es"/>
              <a:t>embebido</a:t>
            </a:r>
            <a:r>
              <a:rPr lang="es"/>
              <a:t> dentro del código HTML que </a:t>
            </a:r>
            <a:r>
              <a:rPr b="1" lang="es"/>
              <a:t>reciba información del servidor y la pueda desplegar en el front </a:t>
            </a:r>
            <a:r>
              <a:rPr lang="es"/>
              <a:t>una porción de código repetida tantas veces como se desee</a:t>
            </a:r>
            <a:endParaRPr/>
          </a:p>
        </p:txBody>
      </p:sp>
      <p:pic>
        <p:nvPicPr>
          <p:cNvPr id="200" name="Google Shape;20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8713" y="3057625"/>
            <a:ext cx="4543425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</a:t>
            </a:r>
            <a:endParaRPr/>
          </a:p>
        </p:txBody>
      </p:sp>
      <p:sp>
        <p:nvSpPr>
          <p:cNvPr id="206" name="Google Shape;206;p29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Utilizar el proyecto bar Brooklyn y refactorizar el código del menú, creando uno que liste las 4 columnas con información hardcodeada proveniente del servidor.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Error handler</a:t>
            </a:r>
            <a:endParaRPr/>
          </a:p>
        </p:txBody>
      </p:sp>
      <p:sp>
        <p:nvSpPr>
          <p:cNvPr id="212" name="Google Shape;212;p30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Flask posee un manejador de errores que pueden capturar errores que sucedan en el servidor y permitirnos crear una vista que lo muestre de una forma adecuada a la estética de nuestro proyecto web.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El template 404.html deberá ser creado por el programador.</a:t>
            </a:r>
            <a:endParaRPr/>
          </a:p>
        </p:txBody>
      </p:sp>
      <p:pic>
        <p:nvPicPr>
          <p:cNvPr id="213" name="Google Shape;21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9025" y="2245313"/>
            <a:ext cx="7162800" cy="101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</a:t>
            </a:r>
            <a:endParaRPr/>
          </a:p>
        </p:txBody>
      </p:sp>
      <p:sp>
        <p:nvSpPr>
          <p:cNvPr id="219" name="Google Shape;219;p31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Crear utilizando nuestro proyecto de bar Brooklyn errorhandler para error 404 y 500.</a:t>
            </a:r>
            <a:br>
              <a:rPr lang="es"/>
            </a:br>
            <a:r>
              <a:rPr i="1" lang="es" sz="1700"/>
              <a:t>- El error 404, deberá desplegar el mensaje “La ruta a la que quiere acceder no existe. Haga click en Home para volver</a:t>
            </a:r>
            <a:br>
              <a:rPr i="1" lang="es" sz="1700"/>
            </a:br>
            <a:r>
              <a:rPr i="1" lang="es" sz="1700"/>
              <a:t>- El error 500, deberá desplegar un mensaje “Se ha producido un error en el servidor. Haga click en Home para volver </a:t>
            </a:r>
            <a:endParaRPr i="1" sz="17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Uso del inspector</a:t>
            </a:r>
            <a:endParaRPr/>
          </a:p>
        </p:txBody>
      </p:sp>
      <p:sp>
        <p:nvSpPr>
          <p:cNvPr id="225" name="Google Shape;225;p32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Los navegadores, poseen una funcionalidad “Inspector” que es súmamente útil para los desarrolladores, con la misma se podrá al DOM y ver el estado del Front.</a:t>
            </a:r>
            <a:br>
              <a:rPr lang="es"/>
            </a:br>
            <a:br>
              <a:rPr lang="es"/>
            </a:br>
            <a:r>
              <a:rPr lang="es" u="sng">
                <a:solidFill>
                  <a:schemeClr val="hlink"/>
                </a:solidFill>
                <a:hlinkClick r:id="rId3"/>
              </a:rPr>
              <a:t>https://developer.chrome.com/docs/devtools/dom?hl=es-419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3"/>
          <p:cNvSpPr txBox="1"/>
          <p:nvPr>
            <p:ph type="ctrTitle"/>
          </p:nvPr>
        </p:nvSpPr>
        <p:spPr>
          <a:xfrm>
            <a:off x="460950" y="1455827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Ejercitación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</a:t>
            </a:r>
            <a:endParaRPr/>
          </a:p>
        </p:txBody>
      </p:sp>
      <p:sp>
        <p:nvSpPr>
          <p:cNvPr id="236" name="Google Shape;236;p34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Descargar el proyecto .zip que les enviaremos por slack.</a:t>
            </a:r>
            <a:br>
              <a:rPr lang="es"/>
            </a:br>
            <a:r>
              <a:rPr lang="es"/>
              <a:t>a- Crear una estructura base.html que permita reutilizar código mediante block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b- Reemplazar las rutas, utilizando url_for()</a:t>
            </a:r>
            <a:br>
              <a:rPr lang="es"/>
            </a:br>
            <a:r>
              <a:rPr lang="es"/>
              <a:t>c- Crear un formulario que al ser cargado utilizando método POST, envié un mensaje de éxito</a:t>
            </a:r>
            <a:br>
              <a:rPr lang="es"/>
            </a:br>
            <a:r>
              <a:rPr lang="es"/>
              <a:t>d- Usar el método GET para pasar un parámetro por url con el nombre de un usuario y darle la bienvenida al sitio</a:t>
            </a:r>
            <a:br>
              <a:rPr lang="es"/>
            </a:br>
            <a:r>
              <a:rPr lang="es"/>
              <a:t>e- Crear los errorhandler que crea necesarios.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