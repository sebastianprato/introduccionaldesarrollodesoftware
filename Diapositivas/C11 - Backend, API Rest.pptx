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 Serif"/>
      <p:regular r:id="rId37"/>
      <p:bold r:id="rId38"/>
      <p:italic r:id="rId39"/>
      <p:boldItalic r:id="rId40"/>
    </p:embeddedFont>
    <p:embeddedFont>
      <p:font typeface="Roboto Serif 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8A705C-07B6-4C75-89BF-A8419A3B00C4}">
  <a:tblStyle styleId="{6D8A705C-07B6-4C75-89BF-A8419A3B00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75D86E1-C8FE-45C3-A024-9965E752283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SerifLight-bold.fntdata"/><Relationship Id="rId41" Type="http://schemas.openxmlformats.org/officeDocument/2006/relationships/font" Target="fonts/RobotoSerifLight-regular.fntdata"/><Relationship Id="rId22" Type="http://schemas.openxmlformats.org/officeDocument/2006/relationships/slide" Target="slides/slide16.xml"/><Relationship Id="rId44" Type="http://schemas.openxmlformats.org/officeDocument/2006/relationships/font" Target="fonts/RobotoSerifLight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SerifLight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Serif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Serif-italic.fntdata"/><Relationship Id="rId16" Type="http://schemas.openxmlformats.org/officeDocument/2006/relationships/slide" Target="slides/slide10.xml"/><Relationship Id="rId38" Type="http://schemas.openxmlformats.org/officeDocument/2006/relationships/font" Target="fonts/RobotoSerif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82230d54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082230d54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82230d5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82230d5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82230d54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82230d54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7e1838b7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7e1838b7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7e1838b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7e1838b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7e1838b7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7e1838b7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a020499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da020499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7f45cb6e4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7f45cb6e4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a020499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a020499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a020499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a020499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3d51933c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3d51933c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a020499e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da020499e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3d51933c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3d51933c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3d51933c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3d51933c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2230d54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82230d5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a020499e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a020499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a020499e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a020499e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a020499e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a020499e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7e1838b7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07e1838b7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82230d544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82230d54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82230d54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82230d54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82230d54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082230d54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a020499e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da020499e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a020499e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a020499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da020499e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da020499e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082230d54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082230d54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postman.com/downloads/" TargetMode="External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58"/>
              <a:t>Qué es el backend?</a:t>
            </a:r>
            <a:endParaRPr sz="2158"/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58"/>
              <a:t>APIs</a:t>
            </a:r>
            <a:endParaRPr sz="2158"/>
          </a:p>
          <a:p>
            <a:pPr indent="-299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450"/>
              <a:t>Qué son? </a:t>
            </a:r>
            <a:endParaRPr sz="1450"/>
          </a:p>
          <a:p>
            <a:pPr indent="-299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450"/>
              <a:t>Tipos</a:t>
            </a:r>
            <a:endParaRPr sz="1450"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RESTful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Request &amp; Response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Response time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Verbos HTTP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Códigos de estado HTTP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API en Flask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Repasemos el concepto de Desarrollo Web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296450"/>
            <a:ext cx="8520600" cy="30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400"/>
              <a:t>El desarrollo web es el </a:t>
            </a:r>
            <a:r>
              <a:rPr b="1" lang="es" sz="1400"/>
              <a:t>proceso de crear y mantener sitios y aplicaciones web</a:t>
            </a:r>
            <a:r>
              <a:rPr lang="es" sz="1400"/>
              <a:t>. Abarca una amplia gama de tareas, desde el diseño y la planificación hasta la codificación y la implementación. El desarrollo Web se suele separar entre </a:t>
            </a:r>
            <a:r>
              <a:rPr b="1" lang="es" sz="1400"/>
              <a:t>Front end </a:t>
            </a:r>
            <a:r>
              <a:rPr lang="es" sz="1400"/>
              <a:t>y </a:t>
            </a:r>
            <a:r>
              <a:rPr b="1" lang="es" sz="1400"/>
              <a:t>Back end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Back-end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Backend?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120300"/>
            <a:ext cx="8520600" cy="32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El </a:t>
            </a:r>
            <a:r>
              <a:rPr b="1" lang="es" sz="1400"/>
              <a:t>back end (o backend)</a:t>
            </a:r>
            <a:r>
              <a:rPr lang="es" sz="1400"/>
              <a:t>, también conocido como </a:t>
            </a:r>
            <a:r>
              <a:rPr lang="es" sz="1400" u="sng"/>
              <a:t>desarrollo del lado del servidor</a:t>
            </a:r>
            <a:r>
              <a:rPr lang="es" sz="1400"/>
              <a:t>, se refiere a la parte de un sitio web o aplicación web que no es visible para los usuarios. Se encarga de la lógica de la aplicación, el almacenamiento de datos y la comunicación con el servidor. Entre sus tareas se encuentran: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Implementar la lógica de la aplicación.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Almacenar y recuperar datos de una base de datos.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Procesar solicitudes y enviar respuestas al usuario.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Asegurar la seguridad del sitio web.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Una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API o interfaz de programación de aplicaciones 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es un conjunto de definiciones y protocolos que se usa para diseñar e integrar el software de las aplicaciones.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Las APIs permiten que sus productos y servicios se comuniquen con otros, </a:t>
            </a:r>
            <a:r>
              <a:rPr lang="es" sz="1500" u="sng">
                <a:solidFill>
                  <a:srgbClr val="151515"/>
                </a:solidFill>
                <a:highlight>
                  <a:srgbClr val="FFFFFF"/>
                </a:highlight>
              </a:rPr>
              <a:t>sin necesidad de saber cómo están implementados.</a:t>
            </a:r>
            <a:endParaRPr sz="1500" u="sng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En nuestro caso utilizaremos, una API para </a:t>
            </a:r>
            <a:r>
              <a:rPr lang="es" sz="1500" u="sng">
                <a:solidFill>
                  <a:srgbClr val="151515"/>
                </a:solidFill>
                <a:highlight>
                  <a:srgbClr val="FFFFFF"/>
                </a:highlight>
              </a:rPr>
              <a:t>comunicar el front end de la aplicación con los datos almacenados en el back end 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(posteriormente veremos )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850" y="910613"/>
            <a:ext cx="6218401" cy="33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200" y="492250"/>
            <a:ext cx="5106419" cy="41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APIs - Según su </a:t>
            </a:r>
            <a:r>
              <a:rPr lang="es"/>
              <a:t>política</a:t>
            </a:r>
            <a:r>
              <a:rPr lang="es"/>
              <a:t> de uso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1. APIs públicas o abiertas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públicas también son conocidas como API abiertas y están disponibles para que otros usuarios o desarrolladores las empleen con mínimas restricciones o, en algunos casos incluso, están totalmente accesibles.</a:t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2. APIs privadas o internas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privadas o internas están ocultas de los usuarios externos y se exponen únicamente para los sistemas internos de una organización. Se emplean para el desarrollo interno de la empresa, optimizando la productividad y la reutilización de servicios.</a:t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3. APIs de aliados comerciales o Partners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de aliados comerciales son aquellas que se exponen entre los miembros de una alianza comercial. Como no están disponibles para todos, se necesita una autorización especial para usarlas.</a:t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4. APIs compuestas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compuestas utilizan distintos datos o diversas APIs de servicio y permiten que los desarrolladores puedan acceder a varios terminales.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APIs - </a:t>
            </a:r>
            <a:r>
              <a:rPr lang="es"/>
              <a:t>Según</a:t>
            </a:r>
            <a:r>
              <a:rPr lang="es"/>
              <a:t> su uso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017800"/>
            <a:ext cx="8520600" cy="3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1. API de datos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Las APIs de datos proporcionan a varios bancos de datos o proveedores SaaS (</a:t>
            </a:r>
            <a:r>
              <a:rPr i="1"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Software as a Service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 o Software como Servicio) acceso CRUD (</a:t>
            </a:r>
            <a:r>
              <a:rPr i="1"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Create, Read, Update, Delete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) a conjuntos de datos, permitiendo la comunicación entre una aplicación y un sistema de gestión de bases de datos.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2. API de sistemas operativos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Este grupo de APIs definen cómo las aplicaciones usan los recursos disponibles y servicios del sistema operativo. Por lo que cada OS (</a:t>
            </a:r>
            <a:r>
              <a:rPr i="1"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Operative System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) posee un conjunto de APIs.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3. APIs remotas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Este grupo define los estándares de interacción que las aplicaciones tienen en diferentes dispositivos, es decir, un software accede a ciertos recursos ubicados fuera del dispositivo que los solicita, como dice su nombre. Como dos aplicaciones se conectan de forma remota a través de una red, las APIs remotas usan protocolos para lograr la conexión.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4. APIs web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Esta clase de API es la más común, dado que las APIs web proporcionan datos que los dispositivos pueden leer y transferirlos entre sistemas basados en la web o arquitectura cliente-servidor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Protocolos en APIs web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271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Los protocolos de API permiten </a:t>
            </a:r>
            <a:r>
              <a:rPr lang="es" sz="1500" u="sng">
                <a:solidFill>
                  <a:srgbClr val="000000"/>
                </a:solidFill>
                <a:highlight>
                  <a:srgbClr val="FFFFFF"/>
                </a:highlight>
              </a:rPr>
              <a:t>estandarizar</a:t>
            </a: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 el intercambio de datos entre los diferentes servicios web. Esto brinda la oportunidad de acceder a capacidades en diversos sistemas, a través de diferentes lenguajes de programación y en distintos sistemas operativos.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RCP - Remote Procedure Call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SOAP - Service Object </a:t>
            </a: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Access</a:t>
            </a: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 Protocol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s" sz="1500">
                <a:solidFill>
                  <a:srgbClr val="000000"/>
                </a:solidFill>
                <a:highlight>
                  <a:srgbClr val="FFFFFF"/>
                </a:highlight>
              </a:rPr>
              <a:t>REST - Representational State Transfer</a:t>
            </a:r>
            <a:endParaRPr b="1"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GraphQL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 - Representational State Transfer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017800"/>
            <a:ext cx="8520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  <a:t>REST es una </a:t>
            </a:r>
            <a:r>
              <a:rPr lang="es" sz="1300" u="sng">
                <a:solidFill>
                  <a:srgbClr val="101828"/>
                </a:solidFill>
                <a:highlight>
                  <a:srgbClr val="FFFFFF"/>
                </a:highlight>
              </a:rPr>
              <a:t>interfaz</a:t>
            </a:r>
            <a: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  <a:t> para conectar varios sistemas basados en el protocolo HTTP (uno de los protocolos más antiguos) y nos sirve para obtener y generar datos y operaciones, devolviendo esos datos en formatos muy específicos, como XML y JSON.  </a:t>
            </a:r>
            <a:r>
              <a:rPr b="1" lang="es" sz="1300">
                <a:solidFill>
                  <a:srgbClr val="101828"/>
                </a:solidFill>
                <a:highlight>
                  <a:srgbClr val="FFFFFF"/>
                </a:highlight>
              </a:rPr>
              <a:t>Sus principios más importantes son:</a:t>
            </a:r>
            <a:endParaRPr b="1" sz="1300">
              <a:solidFill>
                <a:srgbClr val="1018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  <a:t>- 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Un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protocolo cliente/servidor sin estado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: cada mensaje HTTP contiene toda la información necesaria para comprender la petición. Como resultado, ni el cliente ni el servidor necesitan recordar ningún estado de las comunicaciones entre mensajes.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- Un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conjunto de operaciones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 bien definidas que se aplican a todos los </a:t>
            </a:r>
            <a:r>
              <a:rPr i="1" lang="es" sz="1300">
                <a:solidFill>
                  <a:srgbClr val="202122"/>
                </a:solidFill>
                <a:highlight>
                  <a:srgbClr val="FFFFFF"/>
                </a:highlight>
              </a:rPr>
              <a:t>recursos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 de información. Ejemplos: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POST, GET, PUT y DELETE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- 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Una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sintaxis universal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 para identificar los recursos. En un sistema REST, cada recurso es direccionable únicamente a través de su </a:t>
            </a:r>
            <a:r>
              <a:rPr i="1" lang="es" sz="1300">
                <a:solidFill>
                  <a:srgbClr val="202122"/>
                </a:solidFill>
                <a:highlight>
                  <a:srgbClr val="FFFFFF"/>
                </a:highlight>
              </a:rPr>
              <a:t>URI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- El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uso de hipermedios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: es posible navegar de un recurso REST a muchos otros, simplemente siguiendo enlaces.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419800" y="526350"/>
            <a:ext cx="7861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RESTful API o API REST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RESTful API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2493600"/>
            <a:ext cx="8520600" cy="18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Entonces una </a:t>
            </a:r>
            <a:r>
              <a:rPr b="1" lang="es"/>
              <a:t>RESTful API </a:t>
            </a:r>
            <a:r>
              <a:rPr lang="es"/>
              <a:t>es una API que sigue los </a:t>
            </a:r>
            <a:r>
              <a:rPr b="1" lang="es"/>
              <a:t>principios de REST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Los principios RESTful se basan en la idea de que los recursos se representan como objetos y que las operaciones sobre esos recursos se realizan utilizando métodos HTTP estándar. Esto hace que las APIs RESTful sean fáciles de consumir y desarrollar.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51162"/>
          <a:stretch/>
        </p:blipFill>
        <p:spPr>
          <a:xfrm>
            <a:off x="1866025" y="1017800"/>
            <a:ext cx="5411952" cy="13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Partes principales de una REST API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828400" y="1308175"/>
            <a:ext cx="2826000" cy="23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Request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URI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Verbos HTTP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Headers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Request Body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4856050" y="1308175"/>
            <a:ext cx="2826000" cy="23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Response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Código de estado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Response Body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Response time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Request -  Petición al servidor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225975"/>
            <a:ext cx="8520600" cy="31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realizar una petición necesitamos una serie de datos. El </a:t>
            </a:r>
            <a:r>
              <a:rPr b="1" lang="es"/>
              <a:t>objeto request</a:t>
            </a:r>
            <a:r>
              <a:rPr lang="es"/>
              <a:t> debe estar formado con una serie de elementos: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Verbo o Método HTTP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URI (Uniform Resource Identifier)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Headers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Objeto body (en caso de que corresponda)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URI / URL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017800"/>
            <a:ext cx="8520600" cy="18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El </a:t>
            </a:r>
            <a:r>
              <a:rPr b="1" lang="es" sz="1600"/>
              <a:t>URI (uniform resource identifier)</a:t>
            </a:r>
            <a:r>
              <a:rPr lang="es" sz="1600"/>
              <a:t> o identificador uniforme de recursos (por su nombre en español) sirve para acceder a un recurso físico o abstracto por Internet. Dependiendo de la situación, el recurso puede ser de muchos tipos: por ejemplo, una página web o el remitente o al destinatario de un correo electrónico. También se lo conoce como </a:t>
            </a:r>
            <a:r>
              <a:rPr b="1" lang="es" sz="1600"/>
              <a:t>URL (uniform resource locator)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/>
              <a:t>Partes que componen al URI:</a:t>
            </a:r>
            <a:endParaRPr b="1" sz="1600"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75" y="2834900"/>
            <a:ext cx="8461250" cy="2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Verbos / métodos HTTP</a:t>
            </a:r>
            <a:endParaRPr/>
          </a:p>
        </p:txBody>
      </p:sp>
      <p:graphicFrame>
        <p:nvGraphicFramePr>
          <p:cNvPr id="206" name="Google Shape;206;p32"/>
          <p:cNvGraphicFramePr/>
          <p:nvPr/>
        </p:nvGraphicFramePr>
        <p:xfrm>
          <a:off x="774800" y="213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{6D8A705C-07B6-4C75-89BF-A8419A3B00C4}</a:tableStyleId>
              </a:tblPr>
              <a:tblGrid>
                <a:gridCol w="1460875"/>
                <a:gridCol w="577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GET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Obtiene un recurso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POST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Crear un nuevo recurso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Modifica los datos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DELETE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Elimina un recurso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PATCH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Modifica un recurso en particular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7" name="Google Shape;207;p32"/>
          <p:cNvSpPr txBox="1"/>
          <p:nvPr/>
        </p:nvSpPr>
        <p:spPr>
          <a:xfrm>
            <a:off x="368450" y="1017800"/>
            <a:ext cx="805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protocolo HTTP define un conjunto de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métodos de petición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para indicar la </a:t>
            </a:r>
            <a:r>
              <a:rPr lang="es" sz="16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acción que se desea realizar para un recurso determinado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 Los verbos HTTP más comunes para realizar peticiones son: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Headers - Encabezados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311700" y="1017800"/>
            <a:ext cx="87168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Las cabeceras (en inglés headers) HTTP permiten al cliente y al servidor enviar </a:t>
            </a:r>
            <a:r>
              <a:rPr b="1" lang="es" sz="1300">
                <a:solidFill>
                  <a:srgbClr val="000000"/>
                </a:solidFill>
              </a:rPr>
              <a:t>información adicional</a:t>
            </a:r>
            <a:r>
              <a:rPr lang="es" sz="1300">
                <a:solidFill>
                  <a:srgbClr val="000000"/>
                </a:solidFill>
              </a:rPr>
              <a:t> junto a una petición o respuesta.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Algunos de los encabezados HTTP más comunes incluyen: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Host</a:t>
            </a:r>
            <a:r>
              <a:rPr lang="es" sz="1300">
                <a:solidFill>
                  <a:srgbClr val="000000"/>
                </a:solidFill>
              </a:rPr>
              <a:t>: Especifica el nombre del host al que se envía la solicitud.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User-Agent</a:t>
            </a:r>
            <a:r>
              <a:rPr lang="es" sz="1300">
                <a:solidFill>
                  <a:srgbClr val="000000"/>
                </a:solidFill>
              </a:rPr>
              <a:t>: Identifica el navegador o el cliente que envía la solicitud.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Accept</a:t>
            </a:r>
            <a:r>
              <a:rPr lang="es" sz="1300">
                <a:solidFill>
                  <a:srgbClr val="000000"/>
                </a:solidFill>
              </a:rPr>
              <a:t>: Especifica el tipo de contenido que el cliente puede aceptar.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Content-Type</a:t>
            </a:r>
            <a:r>
              <a:rPr lang="es" sz="1300">
                <a:solidFill>
                  <a:srgbClr val="000000"/>
                </a:solidFill>
              </a:rPr>
              <a:t>: Especifica el tipo de contenido de la respuesta.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Content-Length</a:t>
            </a:r>
            <a:r>
              <a:rPr lang="es" sz="1300">
                <a:solidFill>
                  <a:srgbClr val="000000"/>
                </a:solidFill>
              </a:rPr>
              <a:t>: Especifica la longitud de la respuesta.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Authorization</a:t>
            </a:r>
            <a:r>
              <a:rPr lang="es" sz="1300">
                <a:solidFill>
                  <a:srgbClr val="000000"/>
                </a:solidFill>
              </a:rPr>
              <a:t>: Proporciona información de autenticación para la solicitud.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Cache-Control</a:t>
            </a:r>
            <a:r>
              <a:rPr lang="es" sz="1300">
                <a:solidFill>
                  <a:srgbClr val="000000"/>
                </a:solidFill>
              </a:rPr>
              <a:t>: Controla cómo se almacena en caché la respuesta.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Response - Respuesta del servidor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284700"/>
            <a:ext cx="8520600" cy="26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El </a:t>
            </a:r>
            <a:r>
              <a:rPr b="1" lang="es" sz="1300">
                <a:solidFill>
                  <a:srgbClr val="000000"/>
                </a:solidFill>
              </a:rPr>
              <a:t>objeto </a:t>
            </a:r>
            <a:r>
              <a:rPr b="1" lang="es" sz="1300"/>
              <a:t>response</a:t>
            </a:r>
            <a:r>
              <a:rPr lang="es" sz="1300">
                <a:solidFill>
                  <a:srgbClr val="000000"/>
                </a:solidFill>
              </a:rPr>
              <a:t> se utiliza para especificar el código de estado de la respuesta, los encabezados y el cuerpo de la respuesta.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El </a:t>
            </a:r>
            <a:r>
              <a:rPr b="1" lang="es" sz="1300">
                <a:solidFill>
                  <a:srgbClr val="000000"/>
                </a:solidFill>
              </a:rPr>
              <a:t>response time </a:t>
            </a:r>
            <a:r>
              <a:rPr lang="es" sz="1300">
                <a:solidFill>
                  <a:srgbClr val="000000"/>
                </a:solidFill>
              </a:rPr>
              <a:t>es el tiempo en que el </a:t>
            </a:r>
            <a:r>
              <a:rPr lang="es" sz="1300" u="sng">
                <a:solidFill>
                  <a:srgbClr val="000000"/>
                </a:solidFill>
              </a:rPr>
              <a:t>servidor tarda en responder a un request</a:t>
            </a:r>
            <a:r>
              <a:rPr lang="es" sz="1300">
                <a:solidFill>
                  <a:srgbClr val="000000"/>
                </a:solidFill>
              </a:rPr>
              <a:t>. Este tiempo en ocasiones es vital y por lo tanto debe optimizarse el </a:t>
            </a:r>
            <a:r>
              <a:rPr lang="es" sz="1300">
                <a:solidFill>
                  <a:srgbClr val="000000"/>
                </a:solidFill>
              </a:rPr>
              <a:t>código (brindar un SLA)</a:t>
            </a:r>
            <a:r>
              <a:rPr lang="es" sz="1300">
                <a:solidFill>
                  <a:srgbClr val="000000"/>
                </a:solidFill>
              </a:rPr>
              <a:t>. En nuestro caso esto no es necesario.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Códigos de estado HTTP</a:t>
            </a:r>
            <a:endParaRPr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11700" y="1017800"/>
            <a:ext cx="85206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El </a:t>
            </a:r>
            <a:r>
              <a:rPr b="1" lang="es" sz="1300">
                <a:solidFill>
                  <a:srgbClr val="000000"/>
                </a:solidFill>
              </a:rPr>
              <a:t>código de estado</a:t>
            </a:r>
            <a:r>
              <a:rPr lang="es" sz="1300">
                <a:solidFill>
                  <a:srgbClr val="000000"/>
                </a:solidFill>
              </a:rPr>
              <a:t> </a:t>
            </a:r>
            <a:r>
              <a:rPr b="1" lang="es" sz="1300">
                <a:solidFill>
                  <a:srgbClr val="000000"/>
                </a:solidFill>
              </a:rPr>
              <a:t>(status code) </a:t>
            </a:r>
            <a:r>
              <a:rPr lang="es" sz="1300">
                <a:solidFill>
                  <a:srgbClr val="000000"/>
                </a:solidFill>
              </a:rPr>
              <a:t>de la respuesta es un número que indica el resultado de la solicitud.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graphicFrame>
        <p:nvGraphicFramePr>
          <p:cNvPr id="226" name="Google Shape;226;p35"/>
          <p:cNvGraphicFramePr/>
          <p:nvPr/>
        </p:nvGraphicFramePr>
        <p:xfrm>
          <a:off x="311700" y="198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{C75D86E1-C8FE-45C3-A024-9965E7522832}</a:tableStyleId>
              </a:tblPr>
              <a:tblGrid>
                <a:gridCol w="548700"/>
                <a:gridCol w="1862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Code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Significado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Informativas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Correctas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Redirecciones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Errores del cliente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Errores del servidor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35"/>
          <p:cNvGraphicFramePr/>
          <p:nvPr/>
        </p:nvGraphicFramePr>
        <p:xfrm>
          <a:off x="3081638" y="149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{C75D86E1-C8FE-45C3-A024-9965E7522832}</a:tableStyleId>
              </a:tblPr>
              <a:tblGrid>
                <a:gridCol w="610450"/>
                <a:gridCol w="2370275"/>
              </a:tblGrid>
              <a:tr h="21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Code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Significado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200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OK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201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Created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Bad Request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Authorization Required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Forbidden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Not Found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500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Internal Server Error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504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Service Temporarily Unavailable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35"/>
          <p:cNvSpPr txBox="1"/>
          <p:nvPr/>
        </p:nvSpPr>
        <p:spPr>
          <a:xfrm>
            <a:off x="6420900" y="2254675"/>
            <a:ext cx="259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(Algunos ejemplos)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419800" y="526350"/>
            <a:ext cx="7861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Integración entre “front” y “back”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Resumen nivel 5 de Desarrollo Web</a:t>
            </a:r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525" y="1017800"/>
            <a:ext cx="7301681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vamos a trabajar nosotros con las APIs?</a:t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975" y="1085075"/>
            <a:ext cx="5876049" cy="27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Veamos como se ve en Flask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Postman - </a:t>
            </a:r>
            <a:r>
              <a:rPr lang="es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1205175"/>
            <a:ext cx="6280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Postman es una herramienta de colaboración y desarrollo que permite a los desarrolladores interactuar y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probar el funcionamiento de servicios web y aplicaciones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, proporcionando una interfaz gráfica intuitiva y fácil de usar para enviar solicitudes a servidores web y recibir las respuestas correspondientes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Con esta plataforma se puede gestionar diferentes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entornos de desarrollo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,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organizar las solicitudes en colecciones 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y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realizar pruebas automatizadas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 para verificar el comportamiento de los sistemas. 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500" y="1300050"/>
            <a:ext cx="2246702" cy="2246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2"/>
          <p:cNvPicPr preferRelativeResize="0"/>
          <p:nvPr/>
        </p:nvPicPr>
        <p:blipFill rotWithShape="1">
          <a:blip r:embed="rId3">
            <a:alphaModFix/>
          </a:blip>
          <a:srcRect b="0" l="-5593" r="-8561" t="0"/>
          <a:stretch/>
        </p:blipFill>
        <p:spPr>
          <a:xfrm>
            <a:off x="0" y="0"/>
            <a:ext cx="93876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