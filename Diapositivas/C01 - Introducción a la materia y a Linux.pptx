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 Serif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-italic.fntdata"/><Relationship Id="rId20" Type="http://schemas.openxmlformats.org/officeDocument/2006/relationships/slide" Target="slides/slide15.xml"/><Relationship Id="rId41" Type="http://schemas.openxmlformats.org/officeDocument/2006/relationships/font" Target="fonts/RobotoSerif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Serif-bold.fntdata"/><Relationship Id="rId16" Type="http://schemas.openxmlformats.org/officeDocument/2006/relationships/slide" Target="slides/slide11.xml"/><Relationship Id="rId38" Type="http://schemas.openxmlformats.org/officeDocument/2006/relationships/font" Target="fonts/RobotoSerif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8e7f1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8e7f1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8e7f1e_0_3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8e7f1e_0_3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1f08e7f1e_0_3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f1f08e7f1e_0_3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1f08e7f1e_0_3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1f08e7f1e_0_3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f271d27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f271d2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f271d27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f271d27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f271d279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f271d279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f271d27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f271d27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f271d279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f271d279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67a1c4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c67a1c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f1f08e7f1e_0_3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f1f08e7f1e_0_3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f2b3ebc3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f2b3ebc3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2b3ebc3e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2b3ebc3e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2b3ebc3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2b3ebc3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2b3ebc3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2b3ebc3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2b3ebc3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f2b3ebc3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2b3ebc3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2b3ebc3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1f08e7f1e_0_3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1f08e7f1e_0_3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2b3ebc3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f2b3ebc3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2b3ebc3e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2b3ebc3e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cfae99b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cfae99b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cfae99b7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cfae99b7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cfae99b71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cfae99b7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2b3ebc3e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2b3ebc3e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bcfae99b71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bcfae99b71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bcfae99b71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bcfae99b71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f2b3ebc3e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f2b3ebc3e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f2b3ebc3e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f2b3ebc3e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cfae99b71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cfae99b71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join.slack.com/t/intro-desa-software/shared_invite/zt-2p9qji9yt-9ls9G54dnUMD38iYh77wpQ" TargetMode="External"/><Relationship Id="rId4" Type="http://schemas.openxmlformats.org/officeDocument/2006/relationships/hyperlink" Target="https://join.slack.com/t/intro-desa-software/shared_invite/zt-2p9qji9yt-9ls9G54dnUMD38iYh77wp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introds-web.vercel.app/" TargetMode="External"/><Relationship Id="rId4" Type="http://schemas.openxmlformats.org/officeDocument/2006/relationships/hyperlink" Target="https://chat.whatsapp.com/LWHJN7BCCed0FbeIGOEUkp" TargetMode="External"/><Relationship Id="rId5" Type="http://schemas.openxmlformats.org/officeDocument/2006/relationships/hyperlink" Target="https://www.youtube.com/@Intro.Desa.Soft-Lanzillott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6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79FD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 la Materia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Terminal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25"/>
              <a:t>Docentes: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Lic. Bruno Lanzillotta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Martín Sosa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Franco Capra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Carolina Di Matteo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Leonel Chaves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Tomas Villegas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00"/>
              <a:t>Nestor Palavecino</a:t>
            </a:r>
            <a:endParaRPr sz="1225"/>
          </a:p>
        </p:txBody>
      </p:sp>
      <p:sp>
        <p:nvSpPr>
          <p:cNvPr id="120" name="Google Shape;120;p18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Colaboradores</a:t>
            </a:r>
            <a:endParaRPr sz="1200"/>
          </a:p>
          <a:p>
            <a:pPr indent="-30480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Ing. Tomás Rodríguez</a:t>
            </a:r>
            <a:endParaRPr sz="1200"/>
          </a:p>
          <a:p>
            <a:pPr indent="-3048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Flavio Villanueva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Régimen de Cursada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1 parcial + 2 recuperatorios (el </a:t>
            </a:r>
            <a:r>
              <a:rPr lang="es" sz="1225" u="sng"/>
              <a:t>2do recuperatorio</a:t>
            </a:r>
            <a:r>
              <a:rPr lang="es" sz="1225"/>
              <a:t> en en la </a:t>
            </a:r>
            <a:r>
              <a:rPr lang="es" sz="1225" u="sng"/>
              <a:t>1er fecha de final</a:t>
            </a:r>
            <a:r>
              <a:rPr lang="es" sz="1225"/>
              <a:t>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1 parcialito (60% correcto para su aprobación)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Los parciales y el parcialito son obligatorios (</a:t>
            </a:r>
            <a:r>
              <a:rPr lang="es" sz="1225">
                <a:highlight>
                  <a:srgbClr val="FFF2CC"/>
                </a:highlight>
              </a:rPr>
              <a:t>l</a:t>
            </a:r>
            <a:r>
              <a:rPr lang="es" sz="1225">
                <a:highlight>
                  <a:srgbClr val="FFF2CC"/>
                </a:highlight>
              </a:rPr>
              <a:t>os parciales son PRESENCIALES</a:t>
            </a:r>
            <a:r>
              <a:rPr lang="es" sz="1225"/>
              <a:t>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Trabajo Práctico Grupal e Integrador</a:t>
            </a:r>
            <a:endParaRPr sz="122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2 fechas de entrega final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Entregas incrementales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Grupos de 6 personas máximo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Defensa </a:t>
            </a:r>
            <a:endParaRPr sz="97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Final Integrador de toda la materia</a:t>
            </a:r>
            <a:endParaRPr sz="12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Modalidad</a:t>
            </a:r>
            <a:r>
              <a:rPr lang="es"/>
              <a:t> de Cursada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Clases Teóricas - Prácticas Virtuales → </a:t>
            </a:r>
            <a:r>
              <a:rPr b="1" lang="es">
                <a:solidFill>
                  <a:srgbClr val="003E6A"/>
                </a:solidFill>
              </a:rPr>
              <a:t>Martes y Jueves 18:00 a 21:00 hs</a:t>
            </a:r>
            <a:endParaRPr b="1">
              <a:solidFill>
                <a:srgbClr val="003E6A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4 Clases Presenciales OBLIGATORIAS (se debe asistir </a:t>
            </a:r>
            <a:r>
              <a:rPr lang="es" u="sng"/>
              <a:t>como mínimo a 3 clases</a:t>
            </a:r>
            <a:r>
              <a:rPr lang="es"/>
              <a:t> para mantener la regularidad de la cursada)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Proyecto durante la cursada 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se realizará con grupos reducidos de 3 alumnos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se expondrá en las clases presenciales la solución realizada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Medios de Comunicación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Slack → </a:t>
            </a:r>
            <a:r>
              <a:rPr lang="es" u="sng">
                <a:solidFill>
                  <a:schemeClr val="hlink"/>
                </a:solidFill>
                <a:hlinkClick r:id="rId3"/>
              </a:rPr>
              <a:t>intro-desa-software.slack.co</a:t>
            </a:r>
            <a:r>
              <a:rPr lang="es" u="sng">
                <a:solidFill>
                  <a:schemeClr val="hlink"/>
                </a:solidFill>
                <a:hlinkClick r:id="rId4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Aprobación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Asistencia a Parcialitos Obligatorios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Parcial aprobado (en cualquier instancia, tanto parcial como recuperatorios)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Asistencia a -mínimo- 3 clases presenciales obligatorias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Trabajo Práctico aprobado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Defensa Oral Trabajo Práctico </a:t>
            </a:r>
            <a:r>
              <a:rPr lang="es"/>
              <a:t>aprobada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Promoción</a:t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966350" y="3129051"/>
            <a:ext cx="3327000" cy="7113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DEFENSA ORAL TP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5559300" y="3266888"/>
            <a:ext cx="617700" cy="4356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&gt;=</a:t>
            </a:r>
            <a:endParaRPr b="1" sz="1900">
              <a:solidFill>
                <a:srgbClr val="7F6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1966350" y="1303152"/>
            <a:ext cx="3327000" cy="12852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PARCIAL </a:t>
            </a:r>
            <a:b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ó</a:t>
            </a:r>
            <a:b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1</a:t>
            </a:r>
            <a:r>
              <a:rPr b="1" baseline="30000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er</a:t>
            </a: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Recuperatorio </a:t>
            </a:r>
            <a:endParaRPr b="1" sz="2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5559300" y="1727938"/>
            <a:ext cx="617700" cy="4356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&gt;=</a:t>
            </a:r>
            <a:endParaRPr b="1" sz="1900">
              <a:solidFill>
                <a:srgbClr val="7F6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6442950" y="1611238"/>
            <a:ext cx="734700" cy="669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rgbClr val="274E1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274E13"/>
                </a:solidFill>
                <a:latin typeface="Roboto Serif"/>
                <a:ea typeface="Roboto Serif"/>
                <a:cs typeface="Roboto Serif"/>
                <a:sym typeface="Roboto Serif"/>
              </a:rPr>
              <a:t>7</a:t>
            </a:r>
            <a:endParaRPr b="1" sz="3200">
              <a:solidFill>
                <a:srgbClr val="274E1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442950" y="3150188"/>
            <a:ext cx="734700" cy="669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rgbClr val="274E1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274E13"/>
                </a:solidFill>
                <a:latin typeface="Roboto Serif"/>
                <a:ea typeface="Roboto Serif"/>
                <a:cs typeface="Roboto Serif"/>
                <a:sym typeface="Roboto Serif"/>
              </a:rPr>
              <a:t>7</a:t>
            </a:r>
            <a:endParaRPr b="1" sz="3200">
              <a:solidFill>
                <a:srgbClr val="274E1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Promoción (Aclaraciones)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60">
                <a:solidFill>
                  <a:srgbClr val="003E6A"/>
                </a:solidFill>
              </a:rPr>
              <a:t>La nota del recuperatorio sobre-escribe la del parcial</a:t>
            </a:r>
            <a:endParaRPr b="1" sz="1560">
              <a:solidFill>
                <a:srgbClr val="003E6A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60"/>
              <a:t>Si un alumno que aprueba el Parcial en la primera instancia (pero no alcanza el 7 para la promoción) quiere volver a presentarse al Recuperatorio para subir nota, la nota del recuperatorio REEMPLAZA la del Parcial.</a:t>
            </a:r>
            <a:endParaRPr sz="1080"/>
          </a:p>
        </p:txBody>
      </p:sp>
      <p:sp>
        <p:nvSpPr>
          <p:cNvPr id="156" name="Google Shape;156;p23"/>
          <p:cNvSpPr txBox="1"/>
          <p:nvPr>
            <p:ph idx="2" type="body"/>
          </p:nvPr>
        </p:nvSpPr>
        <p:spPr>
          <a:xfrm>
            <a:off x="4681800" y="1017800"/>
            <a:ext cx="4150500" cy="3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353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➔"/>
            </a:pPr>
            <a:r>
              <a:rPr lang="es" sz="1180"/>
              <a:t>EJEMPLO “Pepito”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Parcial = 5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Recuperatorio = 2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NOTA PARA EVALUAR PROMOCIÓN = 2 → NO PROMOCIONA Y VA A 2</a:t>
            </a:r>
            <a:r>
              <a:rPr baseline="30000" lang="es" sz="1180"/>
              <a:t>do</a:t>
            </a:r>
            <a:r>
              <a:rPr lang="es" sz="1180"/>
              <a:t> RECUPERATORIO</a:t>
            </a:r>
            <a:endParaRPr sz="1180"/>
          </a:p>
          <a:p>
            <a:pPr indent="-30353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➔"/>
            </a:pPr>
            <a:r>
              <a:rPr lang="es" sz="1180"/>
              <a:t>EJEMPLO “Juanita”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Parcial = 4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Recuperatorio = 7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NOTA PARA EVALUAR PROMOCIÓN = 7 → PODRÍA PROMOCIONAR… DEPENDE DE LA DEFENSA DEL TP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Pepito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790575"/>
            <a:ext cx="47625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5211350" y="4352925"/>
            <a:ext cx="380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Sentado en la esquina pensando cómo fue tan gil.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Juanita</a:t>
            </a:r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801" y="1217475"/>
            <a:ext cx="5808400" cy="32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 interés</a:t>
            </a:r>
            <a:endParaRPr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Página web de la materia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https://introds-web.vercel.app/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WhatsApp para alumnos: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https://chat.whatsapp.com/LWHJN7BCCed0FbeIGOEUkp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Canal de YouTube: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https://www.youtube.com/@Intro.Desa.Soft-Lanzillotta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Linux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017800"/>
            <a:ext cx="869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Linux es un </a:t>
            </a:r>
            <a:r>
              <a:rPr b="1" lang="es"/>
              <a:t>sistema operativo</a:t>
            </a:r>
            <a:r>
              <a:rPr lang="es"/>
              <a:t> creado bajo el modelo de software libre. Comenzó como el proyecto personal en 1991, paralelo al proyecto GNU que comenzó en 1983.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Agosto de 1991, un estudiante de Finlandia posteó en comp.os.minix, las siguiente palabras…</a:t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600" y="3786698"/>
            <a:ext cx="5538801" cy="10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estudiante fue Linus Torvalds, y el “hobby” del que habló eventualmente se convirtió en lo que hoy conocemos como Linux.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Linux, un sistema operativo con todas las funciones similar a POSIX (Interfaz de sistema operativo portátil Unix), ha sido desarrollado no sólo por Linus, sino por cientos de programadores de todo el mundo.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300" y="1596225"/>
            <a:ext cx="5320901" cy="22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Existen muchísimas distribuciones Linux, todas comparten el Kernel.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850" y="1017800"/>
            <a:ext cx="6934300" cy="24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creadores de Linux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3453500"/>
            <a:ext cx="4165200" cy="12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El core de Linux  O/S originalmente fue escrito por  Linus Torvalds. Actualmente miles de desarrolladores y las mayores </a:t>
            </a:r>
            <a:r>
              <a:rPr lang="es" sz="1600"/>
              <a:t>compañías</a:t>
            </a:r>
            <a:r>
              <a:rPr lang="es" sz="1600"/>
              <a:t> </a:t>
            </a:r>
            <a:r>
              <a:rPr lang="es" sz="1600"/>
              <a:t>tecnológicas</a:t>
            </a:r>
            <a:r>
              <a:rPr lang="es" sz="1600"/>
              <a:t> participan como Intel o IBM.</a:t>
            </a:r>
            <a:endParaRPr sz="1600"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884125" y="3453500"/>
            <a:ext cx="3723900" cy="14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Richard Matthew Stallman, fundador del movimiento software libre y del sistema GNU, que junto a otro gran grupo de desarrolladores, crearon las utilidades GNU que utilizar Linux.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325" y="486200"/>
            <a:ext cx="4920442" cy="44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Dónde se usa Linux</a:t>
            </a:r>
            <a:endParaRPr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● World Wide Web: El 67% de los web-servers son Linux (2016)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● Computadoras para investigación o de Alta Performance: Google, Amazon, NSA, 100% of TOP500 Super-computers.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● Smartphones, Smartwatches, etc:  Android phone, Amazon Kindle, Smart TVs/Devices.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950" y="2075925"/>
            <a:ext cx="3035650" cy="18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Terminal de Linux y Shell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terminal es una </a:t>
            </a:r>
            <a:r>
              <a:rPr lang="es"/>
              <a:t>interfaz</a:t>
            </a:r>
            <a:r>
              <a:rPr lang="es"/>
              <a:t> que mediante líneas de comando nos permite escribir </a:t>
            </a:r>
            <a:r>
              <a:rPr lang="es"/>
              <a:t>órdenes</a:t>
            </a:r>
            <a:r>
              <a:rPr lang="es"/>
              <a:t> e </a:t>
            </a:r>
            <a:r>
              <a:rPr lang="es"/>
              <a:t>interactuar</a:t>
            </a:r>
            <a:r>
              <a:rPr lang="es"/>
              <a:t> con el 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2800" y="1445575"/>
            <a:ext cx="5540849" cy="3143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</a:t>
            </a:r>
            <a:r>
              <a:rPr lang="es"/>
              <a:t>hell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Shell es un programa que interpreta las órdenes que escribimos en la terminal para interactuar con el SO: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Nos provee de </a:t>
            </a:r>
            <a:r>
              <a:rPr lang="es" u="sng"/>
              <a:t>comandos</a:t>
            </a:r>
            <a:r>
              <a:rPr lang="es"/>
              <a:t>, </a:t>
            </a:r>
            <a:r>
              <a:rPr lang="es" u="sng"/>
              <a:t>estructuras de control</a:t>
            </a:r>
            <a:r>
              <a:rPr lang="es"/>
              <a:t> y </a:t>
            </a:r>
            <a:r>
              <a:rPr lang="es" u="sng"/>
              <a:t>variables de ambiente</a:t>
            </a:r>
            <a:r>
              <a:rPr lang="es"/>
              <a:t>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Linux soporta múltiples Shells! Por defecto es </a:t>
            </a:r>
            <a:r>
              <a:rPr b="1" lang="es"/>
              <a:t>Bash</a:t>
            </a:r>
            <a:r>
              <a:rPr lang="es"/>
              <a:t> (The GNU Bourne-Again Shell), pero también existen: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Bourne Shell (sh)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C Shell (csh)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Korn Shell (ksh)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Z Shell (zsh)</a:t>
            </a:r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50594" l="2855" r="3529" t="4012"/>
          <a:stretch/>
        </p:blipFill>
        <p:spPr>
          <a:xfrm>
            <a:off x="3951525" y="3012600"/>
            <a:ext cx="4743450" cy="15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Archivos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(File System)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/>
        </p:nvSpPr>
        <p:spPr>
          <a:xfrm>
            <a:off x="2906688" y="-102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/bin/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2906688" y="31943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/boot/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2906688" y="63988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/dev/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3" name="Google Shape;253;p38"/>
          <p:cNvSpPr txBox="1"/>
          <p:nvPr/>
        </p:nvSpPr>
        <p:spPr>
          <a:xfrm>
            <a:off x="2906688" y="96034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/etc/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2906688" y="128080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5" name="Google Shape;255;p38"/>
          <p:cNvSpPr txBox="1"/>
          <p:nvPr/>
        </p:nvSpPr>
        <p:spPr>
          <a:xfrm>
            <a:off x="2906688" y="160125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/lib/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2906688" y="192171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/media/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7" name="Google Shape;257;p38"/>
          <p:cNvSpPr txBox="1"/>
          <p:nvPr/>
        </p:nvSpPr>
        <p:spPr>
          <a:xfrm>
            <a:off x="2906688" y="224217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/mnt/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2906688" y="256262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/opt/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2906688" y="288308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/sbin/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2906688" y="320354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/srv/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2906688" y="352399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/tmp/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2906688" y="384445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2906688" y="416491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/var/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2906688" y="448536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/root/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2906688" y="480582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/proc/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3652188" y="-100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binarios de comandos de usuario esenciales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3652188" y="31945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estáticos del cargador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3652188" y="6398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del dispositivo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3652188" y="9603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configuración del sistema específica del host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3652188" y="1299050"/>
            <a:ext cx="22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directorio de inicio de usuario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3652188" y="16194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bibliotecas compartidas y módulos del kernel esenciales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3652188" y="193992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punto de montaje para medios desmontables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3652188" y="226037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punto de montaje para un sistema de archivos temporal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3652188" y="25717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paquetes de software de aplicaciones adicionales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3652188" y="28921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binarios del SO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3652188" y="321262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datos de servicios proporcionados por el SO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3652188" y="353307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temporales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3652188" y="3839900"/>
            <a:ext cx="250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utilidades y aplicaciones de usuario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3652188" y="415580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variables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0" name="Google Shape;280;p38"/>
          <p:cNvSpPr txBox="1"/>
          <p:nvPr/>
        </p:nvSpPr>
        <p:spPr>
          <a:xfrm>
            <a:off x="3652188" y="44762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directorio de inicio para el usuario raíz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81" name="Google Shape;281;p38"/>
          <p:cNvCxnSpPr>
            <a:stCxn id="282" idx="0"/>
            <a:endCxn id="250" idx="1"/>
          </p:cNvCxnSpPr>
          <p:nvPr/>
        </p:nvCxnSpPr>
        <p:spPr>
          <a:xfrm flipH="1" rot="10800000">
            <a:off x="1594938" y="168450"/>
            <a:ext cx="1311900" cy="2341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>
            <a:stCxn id="282" idx="0"/>
            <a:endCxn id="251" idx="1"/>
          </p:cNvCxnSpPr>
          <p:nvPr/>
        </p:nvCxnSpPr>
        <p:spPr>
          <a:xfrm flipH="1" rot="10800000">
            <a:off x="1594938" y="488850"/>
            <a:ext cx="1311900" cy="2020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>
            <a:stCxn id="282" idx="0"/>
            <a:endCxn id="252" idx="1"/>
          </p:cNvCxnSpPr>
          <p:nvPr/>
        </p:nvCxnSpPr>
        <p:spPr>
          <a:xfrm flipH="1" rot="10800000">
            <a:off x="1594938" y="809250"/>
            <a:ext cx="1311900" cy="1700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8"/>
          <p:cNvCxnSpPr>
            <a:stCxn id="282" idx="0"/>
            <a:endCxn id="253" idx="1"/>
          </p:cNvCxnSpPr>
          <p:nvPr/>
        </p:nvCxnSpPr>
        <p:spPr>
          <a:xfrm flipH="1" rot="10800000">
            <a:off x="1594938" y="1129650"/>
            <a:ext cx="1311900" cy="1380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8"/>
          <p:cNvCxnSpPr>
            <a:stCxn id="282" idx="0"/>
            <a:endCxn id="254" idx="1"/>
          </p:cNvCxnSpPr>
          <p:nvPr/>
        </p:nvCxnSpPr>
        <p:spPr>
          <a:xfrm flipH="1" rot="10800000">
            <a:off x="1594938" y="1450050"/>
            <a:ext cx="1311900" cy="105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8"/>
          <p:cNvCxnSpPr>
            <a:stCxn id="282" idx="0"/>
            <a:endCxn id="255" idx="1"/>
          </p:cNvCxnSpPr>
          <p:nvPr/>
        </p:nvCxnSpPr>
        <p:spPr>
          <a:xfrm flipH="1" rot="10800000">
            <a:off x="1594938" y="1770750"/>
            <a:ext cx="1311900" cy="738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8"/>
          <p:cNvCxnSpPr>
            <a:stCxn id="282" idx="0"/>
            <a:endCxn id="256" idx="1"/>
          </p:cNvCxnSpPr>
          <p:nvPr/>
        </p:nvCxnSpPr>
        <p:spPr>
          <a:xfrm flipH="1" rot="10800000">
            <a:off x="1594938" y="2091150"/>
            <a:ext cx="1311900" cy="41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8"/>
          <p:cNvCxnSpPr>
            <a:stCxn id="282" idx="0"/>
            <a:endCxn id="257" idx="1"/>
          </p:cNvCxnSpPr>
          <p:nvPr/>
        </p:nvCxnSpPr>
        <p:spPr>
          <a:xfrm flipH="1" rot="10800000">
            <a:off x="1594938" y="2411550"/>
            <a:ext cx="1311900" cy="98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8"/>
          <p:cNvCxnSpPr>
            <a:stCxn id="282" idx="0"/>
            <a:endCxn id="258" idx="1"/>
          </p:cNvCxnSpPr>
          <p:nvPr/>
        </p:nvCxnSpPr>
        <p:spPr>
          <a:xfrm>
            <a:off x="1594938" y="2509650"/>
            <a:ext cx="1311900" cy="222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8"/>
          <p:cNvCxnSpPr>
            <a:stCxn id="282" idx="0"/>
            <a:endCxn id="259" idx="1"/>
          </p:cNvCxnSpPr>
          <p:nvPr/>
        </p:nvCxnSpPr>
        <p:spPr>
          <a:xfrm>
            <a:off x="1594938" y="2509650"/>
            <a:ext cx="1311900" cy="54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8"/>
          <p:cNvCxnSpPr>
            <a:stCxn id="282" idx="0"/>
            <a:endCxn id="260" idx="1"/>
          </p:cNvCxnSpPr>
          <p:nvPr/>
        </p:nvCxnSpPr>
        <p:spPr>
          <a:xfrm>
            <a:off x="1594938" y="2509650"/>
            <a:ext cx="1311900" cy="863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8"/>
          <p:cNvCxnSpPr>
            <a:stCxn id="282" idx="0"/>
            <a:endCxn id="261" idx="1"/>
          </p:cNvCxnSpPr>
          <p:nvPr/>
        </p:nvCxnSpPr>
        <p:spPr>
          <a:xfrm>
            <a:off x="1594938" y="2509650"/>
            <a:ext cx="1311900" cy="1183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8"/>
          <p:cNvCxnSpPr>
            <a:stCxn id="282" idx="0"/>
            <a:endCxn id="262" idx="1"/>
          </p:cNvCxnSpPr>
          <p:nvPr/>
        </p:nvCxnSpPr>
        <p:spPr>
          <a:xfrm>
            <a:off x="1594938" y="2509650"/>
            <a:ext cx="1311900" cy="1504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8"/>
          <p:cNvCxnSpPr>
            <a:stCxn id="282" idx="0"/>
            <a:endCxn id="263" idx="1"/>
          </p:cNvCxnSpPr>
          <p:nvPr/>
        </p:nvCxnSpPr>
        <p:spPr>
          <a:xfrm>
            <a:off x="1594938" y="2509650"/>
            <a:ext cx="1311900" cy="1824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8"/>
          <p:cNvCxnSpPr>
            <a:stCxn id="282" idx="0"/>
            <a:endCxn id="264" idx="1"/>
          </p:cNvCxnSpPr>
          <p:nvPr/>
        </p:nvCxnSpPr>
        <p:spPr>
          <a:xfrm>
            <a:off x="1594938" y="2509650"/>
            <a:ext cx="1311900" cy="2145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8"/>
          <p:cNvCxnSpPr>
            <a:stCxn id="282" idx="0"/>
            <a:endCxn id="265" idx="1"/>
          </p:cNvCxnSpPr>
          <p:nvPr/>
        </p:nvCxnSpPr>
        <p:spPr>
          <a:xfrm>
            <a:off x="1594938" y="2509650"/>
            <a:ext cx="1311900" cy="2465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8"/>
          <p:cNvSpPr txBox="1"/>
          <p:nvPr/>
        </p:nvSpPr>
        <p:spPr>
          <a:xfrm>
            <a:off x="3652188" y="4796700"/>
            <a:ext cx="52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núcleo de documentación del sistema de archivos virtual y estado de procesos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299" name="Google Shape;299;p38"/>
          <p:cNvGrpSpPr/>
          <p:nvPr/>
        </p:nvGrpSpPr>
        <p:grpSpPr>
          <a:xfrm>
            <a:off x="1088688" y="1971450"/>
            <a:ext cx="1012500" cy="1277100"/>
            <a:chOff x="0" y="2340900"/>
            <a:chExt cx="1012500" cy="1277100"/>
          </a:xfrm>
        </p:grpSpPr>
        <p:sp>
          <p:nvSpPr>
            <p:cNvPr id="300" name="Google Shape;300;p38"/>
            <p:cNvSpPr txBox="1"/>
            <p:nvPr/>
          </p:nvSpPr>
          <p:spPr>
            <a:xfrm>
              <a:off x="351150" y="2340900"/>
              <a:ext cx="310200" cy="461700"/>
            </a:xfrm>
            <a:prstGeom prst="rect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/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82" name="Google Shape;282;p38"/>
            <p:cNvSpPr txBox="1"/>
            <p:nvPr/>
          </p:nvSpPr>
          <p:spPr>
            <a:xfrm>
              <a:off x="0" y="2879100"/>
              <a:ext cx="1012500" cy="738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directorio raíz del SO</a:t>
              </a:r>
              <a:endParaRPr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01" name="Google Shape;301;p38"/>
          <p:cNvSpPr txBox="1"/>
          <p:nvPr/>
        </p:nvSpPr>
        <p:spPr>
          <a:xfrm>
            <a:off x="7530088" y="984925"/>
            <a:ext cx="10584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/home/Desktop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7644312" y="1462413"/>
            <a:ext cx="11733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/home/Documents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303" name="Google Shape;303;p38"/>
          <p:cNvCxnSpPr>
            <a:stCxn id="270" idx="3"/>
            <a:endCxn id="301" idx="1"/>
          </p:cNvCxnSpPr>
          <p:nvPr/>
        </p:nvCxnSpPr>
        <p:spPr>
          <a:xfrm flipH="1" rot="10800000">
            <a:off x="5881188" y="1138700"/>
            <a:ext cx="1648800" cy="329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8"/>
          <p:cNvCxnSpPr>
            <a:stCxn id="270" idx="3"/>
            <a:endCxn id="302" idx="1"/>
          </p:cNvCxnSpPr>
          <p:nvPr/>
        </p:nvCxnSpPr>
        <p:spPr>
          <a:xfrm>
            <a:off x="5881188" y="1468400"/>
            <a:ext cx="1763100" cy="1479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8"/>
          <p:cNvSpPr txBox="1"/>
          <p:nvPr/>
        </p:nvSpPr>
        <p:spPr>
          <a:xfrm>
            <a:off x="6784588" y="3421025"/>
            <a:ext cx="7455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7067088" y="3788400"/>
            <a:ext cx="9282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/usr/local/bin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6740388" y="4180325"/>
            <a:ext cx="10920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/usr/local/games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308" name="Google Shape;308;p38"/>
          <p:cNvCxnSpPr>
            <a:stCxn id="278" idx="3"/>
            <a:endCxn id="305" idx="1"/>
          </p:cNvCxnSpPr>
          <p:nvPr/>
        </p:nvCxnSpPr>
        <p:spPr>
          <a:xfrm flipH="1" rot="10800000">
            <a:off x="6158688" y="3574850"/>
            <a:ext cx="625800" cy="4344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8"/>
          <p:cNvCxnSpPr>
            <a:stCxn id="278" idx="3"/>
            <a:endCxn id="306" idx="1"/>
          </p:cNvCxnSpPr>
          <p:nvPr/>
        </p:nvCxnSpPr>
        <p:spPr>
          <a:xfrm flipH="1" rot="10800000">
            <a:off x="6158688" y="3942350"/>
            <a:ext cx="908400" cy="66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8"/>
          <p:cNvCxnSpPr>
            <a:stCxn id="278" idx="3"/>
            <a:endCxn id="307" idx="1"/>
          </p:cNvCxnSpPr>
          <p:nvPr/>
        </p:nvCxnSpPr>
        <p:spPr>
          <a:xfrm>
            <a:off x="6158688" y="4009250"/>
            <a:ext cx="581700" cy="324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Jerarquía de un Sistema de Archivos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</a:t>
            </a:r>
            <a:r>
              <a:rPr lang="es"/>
              <a:t>mplementación del Sistema de Archivos de dos partes</a:t>
            </a:r>
            <a:endParaRPr/>
          </a:p>
        </p:txBody>
      </p:sp>
      <p:grpSp>
        <p:nvGrpSpPr>
          <p:cNvPr id="317" name="Google Shape;317;p39"/>
          <p:cNvGrpSpPr/>
          <p:nvPr/>
        </p:nvGrpSpPr>
        <p:grpSpPr>
          <a:xfrm>
            <a:off x="2134950" y="1676888"/>
            <a:ext cx="4874100" cy="2094525"/>
            <a:chOff x="2134950" y="1796625"/>
            <a:chExt cx="4874100" cy="2094525"/>
          </a:xfrm>
        </p:grpSpPr>
        <p:sp>
          <p:nvSpPr>
            <p:cNvPr id="318" name="Google Shape;318;p39"/>
            <p:cNvSpPr txBox="1"/>
            <p:nvPr/>
          </p:nvSpPr>
          <p:spPr>
            <a:xfrm>
              <a:off x="2134950" y="1796625"/>
              <a:ext cx="4874100" cy="4617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Kernel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19" name="Google Shape;319;p39"/>
            <p:cNvSpPr txBox="1"/>
            <p:nvPr/>
          </p:nvSpPr>
          <p:spPr>
            <a:xfrm>
              <a:off x="2134950" y="2340900"/>
              <a:ext cx="4874100" cy="461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Virtual File System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0" name="Google Shape;320;p39"/>
            <p:cNvSpPr txBox="1"/>
            <p:nvPr/>
          </p:nvSpPr>
          <p:spPr>
            <a:xfrm>
              <a:off x="213495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EXT3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1" name="Google Shape;321;p39"/>
            <p:cNvSpPr txBox="1"/>
            <p:nvPr/>
          </p:nvSpPr>
          <p:spPr>
            <a:xfrm>
              <a:off x="305480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HPFS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2" name="Google Shape;322;p39"/>
            <p:cNvSpPr txBox="1"/>
            <p:nvPr/>
          </p:nvSpPr>
          <p:spPr>
            <a:xfrm>
              <a:off x="397465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VFAT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3" name="Google Shape;323;p39"/>
            <p:cNvSpPr txBox="1"/>
            <p:nvPr/>
          </p:nvSpPr>
          <p:spPr>
            <a:xfrm>
              <a:off x="489450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EXT4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4" name="Google Shape;324;p39"/>
            <p:cNvSpPr txBox="1"/>
            <p:nvPr/>
          </p:nvSpPr>
          <p:spPr>
            <a:xfrm>
              <a:off x="5814350" y="2885175"/>
              <a:ext cx="11946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FreeBSD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5" name="Google Shape;325;p39"/>
            <p:cNvSpPr txBox="1"/>
            <p:nvPr/>
          </p:nvSpPr>
          <p:spPr>
            <a:xfrm>
              <a:off x="2134950" y="3429450"/>
              <a:ext cx="4874100" cy="4617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Hardware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Línea de comandos</a:t>
            </a:r>
            <a:endParaRPr/>
          </a:p>
        </p:txBody>
      </p:sp>
      <p:sp>
        <p:nvSpPr>
          <p:cNvPr id="331" name="Google Shape;331;p4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El prompt está conformado de esta manera:</a:t>
            </a:r>
            <a:endParaRPr/>
          </a:p>
        </p:txBody>
      </p:sp>
      <p:pic>
        <p:nvPicPr>
          <p:cNvPr id="332" name="Google Shape;3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1418650"/>
            <a:ext cx="52959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04500"/>
            <a:ext cx="9144000" cy="1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Navegar en el FileSystem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pwd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nos indica el directorio actual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ls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lista los archivos de ese directorio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cd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cambio de directorio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Caracteres Especiales</a:t>
            </a:r>
            <a:endParaRPr/>
          </a:p>
        </p:txBody>
      </p:sp>
      <p:sp>
        <p:nvSpPr>
          <p:cNvPr id="345" name="Google Shape;345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~ </a:t>
            </a:r>
            <a:r>
              <a:rPr lang="es"/>
              <a:t>tu directorio home (ejemplo, /usr1/tutorial/tuta1)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. </a:t>
            </a:r>
            <a:r>
              <a:rPr lang="es"/>
              <a:t>directorio actual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.. </a:t>
            </a:r>
            <a:r>
              <a:rPr lang="es"/>
              <a:t>directorio padre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* </a:t>
            </a:r>
            <a:r>
              <a:rPr lang="es"/>
              <a:t>comodín (reemplaza cualquier nombre de archivo)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? </a:t>
            </a:r>
            <a:r>
              <a:rPr lang="es"/>
              <a:t>comodín que reemplaza cualquier caracter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TAB </a:t>
            </a:r>
            <a:r>
              <a:rPr lang="es"/>
              <a:t>intenta completar cualquier nombre parcialmente escrito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 &lt;ls&gt;</a:t>
            </a:r>
            <a:endParaRPr/>
          </a:p>
        </p:txBody>
      </p:sp>
      <p:sp>
        <p:nvSpPr>
          <p:cNvPr id="351" name="Google Shape;351;p4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-a → </a:t>
            </a:r>
            <a:r>
              <a:rPr lang="es"/>
              <a:t>lista todos los archivos (incluidos ocultos “.”)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 → </a:t>
            </a:r>
            <a:r>
              <a:rPr lang="es"/>
              <a:t>lista los detalles de un directorio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–lR → </a:t>
            </a:r>
            <a:r>
              <a:rPr lang="es"/>
              <a:t>lista los detalles de un directorio en forma recursiva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–lh → </a:t>
            </a:r>
            <a:r>
              <a:rPr lang="es"/>
              <a:t>lista el directorio en detalle (el tamaño de los archivos se muestra en Kbytes)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–lS → </a:t>
            </a:r>
            <a:r>
              <a:rPr lang="es"/>
              <a:t>lista ordenado el directorio por tamaño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–lt → </a:t>
            </a:r>
            <a:r>
              <a:rPr lang="es"/>
              <a:t>lista los archivos ordenados por fecha de creación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 muy usados</a:t>
            </a:r>
            <a:endParaRPr/>
          </a:p>
        </p:txBody>
      </p:sp>
      <p:sp>
        <p:nvSpPr>
          <p:cNvPr id="357" name="Google Shape;357;p44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cp [file1] [file2] - Copy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mkdir [name] - Make directory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rmdir [name] - Remove (empty) directory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mv [file] [destination] - Move/rename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rm [file] - Remove (-r for recursive)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file [file] - Identify file type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less [file] - Page through file</a:t>
            </a:r>
            <a:endParaRPr/>
          </a:p>
        </p:txBody>
      </p:sp>
      <p:sp>
        <p:nvSpPr>
          <p:cNvPr id="358" name="Google Shape;358;p44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head -n N [file] - Display first N lines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tail -n N [file] - Display last N lines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ln –s [file] [new] - Create symbolic link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cat [file] [file2…] - Display file(s)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tac [file] [file2…] - Display file in reverse order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touch [file] - Update modification time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od [file] - Display file contents, esp. binary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clase que viene…</a:t>
            </a:r>
            <a:endParaRPr/>
          </a:p>
        </p:txBody>
      </p:sp>
      <p:sp>
        <p:nvSpPr>
          <p:cNvPr id="364" name="Google Shape;364;p4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Instalar 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Leer y practicar comandos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