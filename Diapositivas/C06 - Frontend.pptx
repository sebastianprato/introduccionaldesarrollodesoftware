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 Serif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Serif-regular.fntdata"/><Relationship Id="rId25" Type="http://schemas.openxmlformats.org/officeDocument/2006/relationships/slide" Target="slides/slide20.xml"/><Relationship Id="rId28" Type="http://schemas.openxmlformats.org/officeDocument/2006/relationships/font" Target="fonts/RobotoSerif-italic.fntdata"/><Relationship Id="rId27" Type="http://schemas.openxmlformats.org/officeDocument/2006/relationships/font" Target="fonts/RobotoSerif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rif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bold.fntdata"/><Relationship Id="rId12" Type="http://schemas.openxmlformats.org/officeDocument/2006/relationships/slide" Target="slides/slide7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4c363278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4c363278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f4c363278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f4c363278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6b29c867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6b29c867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f4d42e7d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f4d42e7d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f4c363278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f4c363278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f4d42e7d3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f4d42e7d3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f4d42e7d3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f4d42e7d3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f4d42e7d3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f4d42e7d3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f4d42e7d3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f4d42e7d3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f4d42e7d3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f4d42e7d3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6b29c8674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6b29c8674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f4c363278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f4c363278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f1f0e37d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f1f0e37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f1f0e37db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f1f0e37d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6b29c8674_6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46b29c8674_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python-guide.org/dev/virtualenv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localhost:5000/" TargetMode="External"/><Relationship Id="rId4" Type="http://schemas.openxmlformats.org/officeDocument/2006/relationships/hyperlink" Target="http://localhost:5000/user/john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Flask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Ejemplo práctico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50"/>
              <a:buFont typeface="Roboto"/>
              <a:buChar char="●"/>
            </a:pPr>
            <a:r>
              <a:rPr lang="es" sz="1450">
                <a:solidFill>
                  <a:srgbClr val="2525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Flask es un framework minimalista web muy popular que deja casi todas las decisiones de diseño y arquitectura en manos del desarrollador.</a:t>
            </a:r>
            <a:endParaRPr sz="1450">
              <a:solidFill>
                <a:srgbClr val="2525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50"/>
              <a:buFont typeface="Roboto"/>
              <a:buChar char="●"/>
            </a:pPr>
            <a:r>
              <a:rPr lang="es" sz="1450">
                <a:solidFill>
                  <a:srgbClr val="2525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Para trabajar con distintos proyectos es necesario crear un ambiente virtual (virtual </a:t>
            </a:r>
            <a:r>
              <a:rPr lang="es" sz="1450">
                <a:solidFill>
                  <a:srgbClr val="2525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environment</a:t>
            </a:r>
            <a:r>
              <a:rPr lang="es" sz="1450">
                <a:solidFill>
                  <a:srgbClr val="2525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), esto permitirá que no hayan incompatibilidades entre diferentes versiones de dependencias instaladas entre un proyecto y otro. </a:t>
            </a:r>
            <a:endParaRPr sz="1450">
              <a:solidFill>
                <a:srgbClr val="2525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50"/>
              <a:buFont typeface="Roboto"/>
              <a:buChar char="●"/>
            </a:pPr>
            <a:r>
              <a:rPr lang="es" sz="1450">
                <a:solidFill>
                  <a:srgbClr val="2525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pipenv</a:t>
            </a:r>
            <a:br>
              <a:rPr lang="es" sz="1450">
                <a:solidFill>
                  <a:srgbClr val="2525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s" sz="145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https://docs.python-guide.org/dev/virtualenvs/</a:t>
            </a:r>
            <a:endParaRPr sz="1450">
              <a:solidFill>
                <a:srgbClr val="2525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Creando un proyecto Flask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1- Crear un directorio donde usaremos el proyecto</a:t>
            </a:r>
            <a:br>
              <a:rPr lang="es"/>
            </a:br>
            <a:r>
              <a:rPr b="1" lang="es"/>
              <a:t>	mkdir mi_proyecto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 Acceder al directorio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	cd mi_proyecto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 Ingresar a Visual Studio Code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	code .  (crear el archivo app.py y un directorio .venv)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4- Crear el ambiente virtual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	</a:t>
            </a:r>
            <a:r>
              <a:rPr b="1" lang="es"/>
              <a:t>pipenv install flask </a:t>
            </a:r>
            <a:endParaRPr b="1"/>
          </a:p>
        </p:txBody>
      </p:sp>
      <p:sp>
        <p:nvSpPr>
          <p:cNvPr id="126" name="Google Shape;126;p19"/>
          <p:cNvSpPr txBox="1"/>
          <p:nvPr/>
        </p:nvSpPr>
        <p:spPr>
          <a:xfrm>
            <a:off x="3897050" y="3505325"/>
            <a:ext cx="3876600" cy="1114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 instalarán las dependencias en los archivos pipfile y pipfile.lock</a:t>
            </a:r>
            <a:b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Creando un proyecto Flask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311700" y="1017800"/>
            <a:ext cx="8239500" cy="3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5- Activamos el proyecto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	</a:t>
            </a:r>
            <a:r>
              <a:rPr b="1" lang="es" sz="1200"/>
              <a:t>pipenv shell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6- Continuamos configurando el proyecto dentro del archivo app.py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/>
              <a:t>	from Flask import Flask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7 - Una vez dentro del entorno, podemos utilizar comandos de pip y flask normalmente, como por ejemplo: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s" sz="1200"/>
              <a:t>pip list</a:t>
            </a:r>
            <a:endParaRPr b="1"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" sz="1200"/>
              <a:t>pip install Flask</a:t>
            </a:r>
            <a:endParaRPr b="1"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" sz="1200"/>
              <a:t>pip –version</a:t>
            </a:r>
            <a:endParaRPr b="1"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" sz="1200"/>
              <a:t>flask run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8</a:t>
            </a:r>
            <a:r>
              <a:rPr lang="es" sz="1200"/>
              <a:t> - Para salir del entorno virtual utilizamos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/>
              <a:t>	</a:t>
            </a:r>
            <a:r>
              <a:rPr b="1" lang="es" sz="1200"/>
              <a:t>exit</a:t>
            </a:r>
            <a:endParaRPr b="1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Arrancando el proyecto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017800"/>
            <a:ext cx="8520600" cy="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Ejemplo de nuestro archivo </a:t>
            </a:r>
            <a:r>
              <a:rPr b="1" lang="es"/>
              <a:t>app.py</a:t>
            </a:r>
            <a:endParaRPr b="1"/>
          </a:p>
        </p:txBody>
      </p:sp>
      <p:sp>
        <p:nvSpPr>
          <p:cNvPr id="139" name="Google Shape;139;p21"/>
          <p:cNvSpPr txBox="1"/>
          <p:nvPr/>
        </p:nvSpPr>
        <p:spPr>
          <a:xfrm>
            <a:off x="393900" y="1554800"/>
            <a:ext cx="4321500" cy="2670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flask 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Flask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app 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Flask(__name__)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@app.route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'/'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1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hello_world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():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'Hello, World!'</a:t>
            </a:r>
            <a:endParaRPr sz="1150">
              <a:solidFill>
                <a:srgbClr val="E6DB74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__name__ 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'__main__'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s" sz="1150">
                <a:solidFill>
                  <a:srgbClr val="75715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# esto solo funca usando python3 app.py</a:t>
            </a:r>
            <a:endParaRPr sz="1150">
              <a:solidFill>
                <a:srgbClr val="75715E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app.run(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"localhost"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i="1" lang="es" sz="1150">
                <a:solidFill>
                  <a:srgbClr val="FD971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port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8081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i="1" lang="es" sz="1150">
                <a:solidFill>
                  <a:srgbClr val="FD971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debug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5014675" y="1554800"/>
            <a:ext cx="3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Para ejecutar la app de Flask hay 3 formas:</a:t>
            </a:r>
            <a:endParaRPr sz="15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4922725" y="2295350"/>
            <a:ext cx="4098300" cy="11895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lt1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flask run</a:t>
            </a:r>
            <a:endParaRPr sz="1050">
              <a:solidFill>
                <a:schemeClr val="lt1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lt1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flask run --host=127.0.0.1 --port=8081 --debug</a:t>
            </a:r>
            <a:endParaRPr sz="1050">
              <a:solidFill>
                <a:schemeClr val="lt1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lt1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python3 app.py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410000"/>
            <a:ext cx="8520600" cy="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Arrancando el proyecto</a:t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5" y="1170200"/>
            <a:ext cx="6316575" cy="23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6644300" y="1109075"/>
            <a:ext cx="2411400" cy="102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Inicialización de Flask en nuestro proyecto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6437900" y="1193075"/>
            <a:ext cx="168000" cy="854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50" name="Google Shape;150;p22"/>
          <p:cNvCxnSpPr/>
          <p:nvPr/>
        </p:nvCxnSpPr>
        <p:spPr>
          <a:xfrm>
            <a:off x="1851875" y="2192725"/>
            <a:ext cx="4685700" cy="457800"/>
          </a:xfrm>
          <a:prstGeom prst="straightConnector1">
            <a:avLst/>
          </a:prstGeom>
          <a:noFill/>
          <a:ln cap="flat" cmpd="sng" w="9525">
            <a:solidFill>
              <a:srgbClr val="BF9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22"/>
          <p:cNvSpPr txBox="1"/>
          <p:nvPr/>
        </p:nvSpPr>
        <p:spPr>
          <a:xfrm>
            <a:off x="6644300" y="2299325"/>
            <a:ext cx="2411400" cy="102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Decorator @, indicando la ruta de acceso a la función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52" name="Google Shape;152;p22"/>
          <p:cNvCxnSpPr/>
          <p:nvPr/>
        </p:nvCxnSpPr>
        <p:spPr>
          <a:xfrm>
            <a:off x="966625" y="3200050"/>
            <a:ext cx="290100" cy="763200"/>
          </a:xfrm>
          <a:prstGeom prst="straightConnector1">
            <a:avLst/>
          </a:prstGeom>
          <a:noFill/>
          <a:ln cap="flat" cmpd="sng" w="9525">
            <a:solidFill>
              <a:srgbClr val="BF9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22"/>
          <p:cNvSpPr txBox="1"/>
          <p:nvPr/>
        </p:nvSpPr>
        <p:spPr>
          <a:xfrm>
            <a:off x="1363200" y="3855875"/>
            <a:ext cx="2411400" cy="102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Setup del servidor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54" name="Google Shape;154;p22"/>
          <p:cNvCxnSpPr/>
          <p:nvPr/>
        </p:nvCxnSpPr>
        <p:spPr>
          <a:xfrm>
            <a:off x="2263950" y="2620075"/>
            <a:ext cx="3480000" cy="1404300"/>
          </a:xfrm>
          <a:prstGeom prst="straightConnector1">
            <a:avLst/>
          </a:prstGeom>
          <a:noFill/>
          <a:ln cap="flat" cmpd="sng" w="9525">
            <a:solidFill>
              <a:srgbClr val="BF9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22"/>
          <p:cNvSpPr txBox="1"/>
          <p:nvPr/>
        </p:nvSpPr>
        <p:spPr>
          <a:xfrm>
            <a:off x="5743950" y="3764075"/>
            <a:ext cx="2411400" cy="102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Render de Jinja para abrir la vista del template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311700" y="410000"/>
            <a:ext cx="85206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básica de un proyecto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(Sin Blueprints)</a:t>
            </a:r>
            <a:endParaRPr/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311700" y="1429700"/>
            <a:ext cx="2196600" cy="31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/mi_proyecto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 app.py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/.venv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/static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     style.css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/templates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     layout.html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     index.html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     login.html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        ...</a:t>
            </a:r>
            <a:endParaRPr b="1"/>
          </a:p>
        </p:txBody>
      </p:sp>
      <p:cxnSp>
        <p:nvCxnSpPr>
          <p:cNvPr id="162" name="Google Shape;162;p23"/>
          <p:cNvCxnSpPr/>
          <p:nvPr/>
        </p:nvCxnSpPr>
        <p:spPr>
          <a:xfrm flipH="1" rot="10800000">
            <a:off x="1699225" y="2299600"/>
            <a:ext cx="2060400" cy="7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3"/>
          <p:cNvSpPr txBox="1"/>
          <p:nvPr/>
        </p:nvSpPr>
        <p:spPr>
          <a:xfrm>
            <a:off x="3744425" y="1673800"/>
            <a:ext cx="4716300" cy="1205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Jinja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nos permite agregar funcionalidad a estos templates, haciendo que puedan integrar data desde el template dinámicamente.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Templates :: Variables y estructuras</a:t>
            </a:r>
            <a:endParaRPr/>
          </a:p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Dentro de un template, además de tener código HTML, también podremos incorporar en forma dinámica </a:t>
            </a:r>
            <a:r>
              <a:rPr b="1" lang="es"/>
              <a:t>variables </a:t>
            </a:r>
            <a:r>
              <a:rPr b="1" lang="es"/>
              <a:t>y</a:t>
            </a:r>
            <a:r>
              <a:rPr b="1" lang="es"/>
              <a:t> estructuras</a:t>
            </a:r>
            <a:r>
              <a:rPr lang="es"/>
              <a:t> tipo if o for, entre muchas cosas más.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Variables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incorporarán en forma dinámica su valor cuando las llamemos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{{ nombre_variable }}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 dentro de los Templates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templates pueden soportar muchos tipos de variables, por ejemplo: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Diccionarios, listas, cadenas, objetos, enteros</a:t>
            </a:r>
            <a:endParaRPr b="1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736263"/>
            <a:ext cx="8520600" cy="1309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If dentro de los Templates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Como dijimos también pueden existir </a:t>
            </a:r>
            <a:r>
              <a:rPr lang="es"/>
              <a:t>estructuras</a:t>
            </a:r>
            <a:r>
              <a:rPr lang="es"/>
              <a:t> del tipo condicionales If</a:t>
            </a:r>
            <a:endParaRPr b="1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Las mismas de deberán estar entre {% ….  %}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188" y="2571750"/>
            <a:ext cx="31718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for dentro de los Templates</a:t>
            </a:r>
            <a:endParaRPr/>
          </a:p>
        </p:txBody>
      </p:sp>
      <p:sp>
        <p:nvSpPr>
          <p:cNvPr id="189" name="Google Shape;189;p27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También</a:t>
            </a:r>
            <a:r>
              <a:rPr lang="es"/>
              <a:t> se podrían utilizar for para hacer iterar una lista o diccionario de datos.</a:t>
            </a:r>
            <a:endParaRPr b="1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Las mismas de deberán estar entre {% ….  %}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7663" y="2798150"/>
            <a:ext cx="45434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Links dentro de los templates</a:t>
            </a:r>
            <a:endParaRPr/>
          </a:p>
        </p:txBody>
      </p:sp>
      <p:sp>
        <p:nvSpPr>
          <p:cNvPr id="196" name="Google Shape;196;p28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Los links dentro de los templates se recomienda que se use el método </a:t>
            </a:r>
            <a:r>
              <a:rPr b="1" lang="es"/>
              <a:t>url_for()</a:t>
            </a:r>
            <a:r>
              <a:rPr lang="es"/>
              <a:t>, de esta forma evitaremos posibles problemas o roturas de nuestro código.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Los links pueden ser estáticos o dinámicos.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Ejemplos: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url_for('index', _external=True) </a:t>
            </a:r>
            <a:r>
              <a:rPr b="1" lang="es"/>
              <a:t> ⇒  </a:t>
            </a:r>
            <a:r>
              <a:rPr b="1" lang="es" u="sng">
                <a:solidFill>
                  <a:schemeClr val="hlink"/>
                </a:solidFill>
                <a:hlinkClick r:id="rId3"/>
              </a:rPr>
              <a:t>http://localhost:5000/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url_for('user', name='john', _external=True)</a:t>
            </a:r>
            <a:r>
              <a:rPr b="1" lang="es"/>
              <a:t> ⇒ </a:t>
            </a:r>
            <a:r>
              <a:rPr b="1" lang="es" u="sng">
                <a:solidFill>
                  <a:schemeClr val="hlink"/>
                </a:solidFill>
                <a:hlinkClick r:id="rId4"/>
              </a:rPr>
              <a:t>http://localhost:5000/user/john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(la opción _external=True, hace que se escriba la dirección absoluta)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Links dentro de los templates</a:t>
            </a:r>
            <a:endParaRPr/>
          </a:p>
        </p:txBody>
      </p:sp>
      <p:sp>
        <p:nvSpPr>
          <p:cNvPr id="202" name="Google Shape;202;p29"/>
          <p:cNvSpPr txBox="1"/>
          <p:nvPr>
            <p:ph idx="1" type="body"/>
          </p:nvPr>
        </p:nvSpPr>
        <p:spPr>
          <a:xfrm>
            <a:off x="311700" y="1017800"/>
            <a:ext cx="8520600" cy="25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Ejemplo del uso de la opción </a:t>
            </a:r>
            <a:r>
              <a:rPr b="1" lang="es" sz="1700">
                <a:latin typeface="Roboto Mono"/>
                <a:ea typeface="Roboto Mono"/>
                <a:cs typeface="Roboto Mono"/>
                <a:sym typeface="Roboto Mono"/>
              </a:rPr>
              <a:t>_external=True</a:t>
            </a:r>
            <a:r>
              <a:rPr lang="es" sz="1700"/>
              <a:t> para utilizar un host externo</a:t>
            </a:r>
            <a:endParaRPr sz="1700"/>
          </a:p>
          <a:p>
            <a:pPr indent="-312261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 sz="1700"/>
              <a:t>url_for('static', filename="templates/home.html")</a:t>
            </a:r>
            <a:endParaRPr b="1" sz="17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/>
              <a:t>/static/templates/home.html</a:t>
            </a:r>
            <a:endParaRPr sz="1700"/>
          </a:p>
          <a:p>
            <a:pPr indent="-312261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 sz="1700"/>
              <a:t>url_for('static', filename="templates/home.html", </a:t>
            </a:r>
            <a:r>
              <a:rPr b="1" lang="es" sz="1700">
                <a:highlight>
                  <a:srgbClr val="FFFF00"/>
                </a:highlight>
              </a:rPr>
              <a:t>_external=True</a:t>
            </a:r>
            <a:r>
              <a:rPr b="1" lang="es" sz="1700"/>
              <a:t>)</a:t>
            </a:r>
            <a:endParaRPr b="1"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700">
                <a:highlight>
                  <a:srgbClr val="FFFF00"/>
                </a:highlight>
              </a:rPr>
              <a:t>http://127.0.0.1:8081</a:t>
            </a:r>
            <a:r>
              <a:rPr lang="es" sz="1700"/>
              <a:t>/static/templates/home.html</a:t>
            </a:r>
            <a:endParaRPr sz="1700"/>
          </a:p>
        </p:txBody>
      </p:sp>
      <p:sp>
        <p:nvSpPr>
          <p:cNvPr id="203" name="Google Shape;203;p29"/>
          <p:cNvSpPr txBox="1"/>
          <p:nvPr/>
        </p:nvSpPr>
        <p:spPr>
          <a:xfrm>
            <a:off x="405550" y="3731475"/>
            <a:ext cx="795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Para usar hosts externos hay que setear la variable </a:t>
            </a:r>
            <a:endParaRPr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 entorno </a:t>
            </a:r>
            <a:r>
              <a:rPr b="1" lang="es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SERVER_NAME</a:t>
            </a:r>
            <a:r>
              <a:rPr lang="es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. En nuestro caso no es necesario.</a:t>
            </a:r>
            <a:endParaRPr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311700" y="410000"/>
            <a:ext cx="8520600" cy="7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Pongamos en marcha el proyecto</a:t>
            </a:r>
            <a:endParaRPr/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311700" y="1414325"/>
            <a:ext cx="79353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Crearemos un pequeño sitio web y veremos: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carpetas/directorios necesarios 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exports para arrancar el proyecto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funciones principales para iniciar el proyecto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cómo enviar variables desde el código Python al frontend y viceversa (GET y POST)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variable session (stored in the server)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1</a:t>
            </a:r>
            <a:endParaRPr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311700" y="1203300"/>
            <a:ext cx="8520600" cy="31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</a:t>
            </a:r>
            <a:r>
              <a:rPr b="1" lang="es"/>
              <a:t>primer proyecto</a:t>
            </a:r>
            <a:r>
              <a:rPr lang="es"/>
              <a:t> en Flask.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Escribir en el navegador “Hola Mundo”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2</a:t>
            </a:r>
            <a:endParaRPr/>
          </a:p>
        </p:txBody>
      </p:sp>
      <p:sp>
        <p:nvSpPr>
          <p:cNvPr id="226" name="Google Shape;226;p33"/>
          <p:cNvSpPr txBox="1"/>
          <p:nvPr>
            <p:ph idx="1" type="body"/>
          </p:nvPr>
        </p:nvSpPr>
        <p:spPr>
          <a:xfrm>
            <a:off x="311700" y="1163975"/>
            <a:ext cx="8520600" cy="31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Continuar con este mismo proyecto, y en la vista donde escribieron hola mundo, incorporar debajo un </a:t>
            </a:r>
            <a:r>
              <a:rPr lang="es" u="sng"/>
              <a:t>link</a:t>
            </a:r>
            <a:r>
              <a:rPr lang="es"/>
              <a:t> que lleve a una nueva vista llamada howiam.html que tenga un texto con una breve reseña del alumno.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